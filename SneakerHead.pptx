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77" r:id="rId3"/>
    <p:sldId id="260" r:id="rId4"/>
    <p:sldId id="278" r:id="rId5"/>
    <p:sldId id="280" r:id="rId6"/>
    <p:sldId id="279" r:id="rId7"/>
    <p:sldId id="263" r:id="rId8"/>
    <p:sldId id="274" r:id="rId9"/>
    <p:sldId id="273" r:id="rId10"/>
    <p:sldId id="266" r:id="rId11"/>
    <p:sldId id="270" r:id="rId12"/>
    <p:sldId id="275" r:id="rId13"/>
    <p:sldId id="276" r:id="rId14"/>
    <p:sldId id="284" r:id="rId15"/>
    <p:sldId id="267" r:id="rId16"/>
    <p:sldId id="271" r:id="rId17"/>
    <p:sldId id="269" r:id="rId18"/>
    <p:sldId id="281" r:id="rId19"/>
    <p:sldId id="282" r:id="rId20"/>
    <p:sldId id="285" r:id="rId21"/>
  </p:sldIdLst>
  <p:sldSz cx="14630400" cy="8229600"/>
  <p:notesSz cx="8229600" cy="14630400"/>
  <p:embeddedFontLst>
    <p:embeddedFont>
      <p:font typeface="DM Sans" pitchFamily="2" charset="0"/>
      <p:regular r:id="rId23"/>
      <p:bold r:id="rId24"/>
      <p:italic r:id="rId25"/>
      <p:boldItalic r:id="rId26"/>
    </p:embeddedFont>
    <p:embeddedFont>
      <p:font typeface="Libre Baskerville" panose="02000000000000000000" pitchFamily="2" charset="0"/>
      <p:regular r:id="rId27"/>
      <p:bold r:id="rId28"/>
      <p:italic r:id="rId29"/>
    </p:embeddedFont>
    <p:embeddedFont>
      <p:font typeface="Trebuchet MS" panose="020B0603020202020204" pitchFamily="34" charset="0"/>
      <p:regular r:id="rId30"/>
      <p:bold r:id="rId31"/>
      <p:italic r:id="rId32"/>
      <p:boldItalic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400E"/>
    <a:srgbClr val="FFFFFF"/>
    <a:srgbClr val="1717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5254" autoAdjust="0"/>
  </p:normalViewPr>
  <p:slideViewPr>
    <p:cSldViewPr snapToGrid="0" snapToObjects="1">
      <p:cViewPr varScale="1">
        <p:scale>
          <a:sx n="55" d="100"/>
          <a:sy n="55" d="100"/>
        </p:scale>
        <p:origin x="65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030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39366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7ED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 err="1">
                <a:solidFill>
                  <a:schemeClr val="accent4">
                    <a:lumMod val="50000"/>
                  </a:schemeClr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SneakerHead</a:t>
            </a:r>
            <a:endParaRPr lang="en-US" sz="4450" dirty="0">
              <a:solidFill>
                <a:schemeClr val="accent4">
                  <a:lumMod val="50000"/>
                </a:schemeClr>
              </a:solidFill>
              <a:latin typeface="Libre Baskerville" pitchFamily="34" charset="0"/>
              <a:ea typeface="Libre Baskerville" pitchFamily="34" charset="-122"/>
              <a:cs typeface="Libre Baskerville" pitchFamily="34" charset="-120"/>
            </a:endParaRPr>
          </a:p>
          <a:p>
            <a:pPr marL="0" indent="0" algn="r">
              <a:lnSpc>
                <a:spcPts val="5550"/>
              </a:lnSpc>
              <a:buNone/>
            </a:pPr>
            <a:r>
              <a:rPr lang="en-US" sz="3200" dirty="0">
                <a:solidFill>
                  <a:srgbClr val="5C4E3D"/>
                </a:solidFill>
                <a:latin typeface="Libre Baskerville" pitchFamily="34" charset="0"/>
              </a:rPr>
              <a:t>- An E-Commerce Website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93790" y="4630698"/>
            <a:ext cx="7556421" cy="1892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Cloud-Native Microservices E-Commerce Platform — built for scale, governed by code, deployed by automation.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7ED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101126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</a:rPr>
              <a:t>Project Overview</a:t>
            </a:r>
            <a:endParaRPr lang="en-US" sz="4450" dirty="0"/>
          </a:p>
        </p:txBody>
      </p:sp>
      <p:sp>
        <p:nvSpPr>
          <p:cNvPr id="5" name="Card1BG"/>
          <p:cNvSpPr/>
          <p:nvPr/>
        </p:nvSpPr>
        <p:spPr>
          <a:xfrm>
            <a:off x="793790" y="2119193"/>
            <a:ext cx="3664744" cy="3128129"/>
          </a:xfrm>
          <a:prstGeom prst="roundRect">
            <a:avLst>
              <a:gd name="adj" fmla="val 3046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Card1Pill"/>
          <p:cNvSpPr/>
          <p:nvPr/>
        </p:nvSpPr>
        <p:spPr>
          <a:xfrm>
            <a:off x="1028224" y="2250000"/>
            <a:ext cx="1295400" cy="266700"/>
          </a:xfrm>
          <a:prstGeom prst="roundRect">
            <a:avLst>
              <a:gd name="adj" fmla="val 19205"/>
            </a:avLst>
          </a:prstGeom>
          <a:solidFill>
            <a:srgbClr val="5C4E3D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</a:rPr>
              <a:t>STACK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28224" y="2619193"/>
            <a:ext cx="3195876" cy="2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B88E23"/>
                </a:solidFill>
                <a:latin typeface="DM Sans" pitchFamily="34" charset="0"/>
              </a:rPr>
              <a:t>Frontend</a:t>
            </a:r>
            <a:endParaRPr lang="en-US" sz="16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</a:rPr>
              <a:t>React</a:t>
            </a:r>
            <a:endParaRPr lang="en-US" sz="14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B88E23"/>
                </a:solidFill>
                <a:latin typeface="DM Sans" pitchFamily="34" charset="0"/>
              </a:rPr>
              <a:t>Backend</a:t>
            </a:r>
            <a:endParaRPr lang="en-US" sz="16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</a:rPr>
              <a:t>FastAPI</a:t>
            </a:r>
            <a:endParaRPr lang="en-US" sz="14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B88E23"/>
                </a:solidFill>
                <a:latin typeface="DM Sans" pitchFamily="34" charset="0"/>
              </a:rPr>
              <a:t>Database</a:t>
            </a:r>
            <a:endParaRPr lang="en-US" sz="16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</a:rPr>
              <a:t>PostgreSQL</a:t>
            </a:r>
            <a:endParaRPr lang="en-US" sz="1400" dirty="0"/>
          </a:p>
        </p:txBody>
      </p:sp>
      <p:sp>
        <p:nvSpPr>
          <p:cNvPr id="8" name="Card2BG"/>
          <p:cNvSpPr/>
          <p:nvPr/>
        </p:nvSpPr>
        <p:spPr>
          <a:xfrm>
            <a:off x="4685348" y="2119193"/>
            <a:ext cx="3664863" cy="3128129"/>
          </a:xfrm>
          <a:prstGeom prst="roundRect">
            <a:avLst>
              <a:gd name="adj" fmla="val 3046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Card2Pill"/>
          <p:cNvSpPr/>
          <p:nvPr/>
        </p:nvSpPr>
        <p:spPr>
          <a:xfrm>
            <a:off x="4919782" y="2250000"/>
            <a:ext cx="1981200" cy="266700"/>
          </a:xfrm>
          <a:prstGeom prst="roundRect">
            <a:avLst>
              <a:gd name="adj" fmla="val 19205"/>
            </a:avLst>
          </a:prstGeom>
          <a:solidFill>
            <a:srgbClr val="5C4E3D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</a:rPr>
              <a:t>MICROSERVICES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919782" y="2619193"/>
            <a:ext cx="3195995" cy="2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B88E23"/>
                </a:solidFill>
                <a:latin typeface="DM Sans" pitchFamily="34" charset="0"/>
              </a:rPr>
              <a:t>Microservices (4)</a:t>
            </a:r>
            <a:endParaRPr lang="en-US" sz="16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</a:rPr>
              <a:t>frontend • user-service</a:t>
            </a:r>
            <a:endParaRPr lang="en-US" sz="14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</a:rPr>
              <a:t>product-service • order-service</a:t>
            </a:r>
            <a:endParaRPr lang="en-US" sz="14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B88E23"/>
                </a:solidFill>
                <a:latin typeface="DM Sans" pitchFamily="34" charset="0"/>
              </a:rPr>
              <a:t>Databases (3)</a:t>
            </a:r>
            <a:endParaRPr lang="en-US" sz="16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</a:rPr>
              <a:t>Dedicated PostgreSQL per service</a:t>
            </a:r>
            <a:endParaRPr lang="en-US" sz="1400" dirty="0"/>
          </a:p>
        </p:txBody>
      </p:sp>
      <p:sp>
        <p:nvSpPr>
          <p:cNvPr id="11" name="Card3BG"/>
          <p:cNvSpPr/>
          <p:nvPr/>
        </p:nvSpPr>
        <p:spPr>
          <a:xfrm>
            <a:off x="793790" y="5474137"/>
            <a:ext cx="7556421" cy="1685092"/>
          </a:xfrm>
          <a:prstGeom prst="roundRect">
            <a:avLst>
              <a:gd name="adj" fmla="val 5654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Card3Pill"/>
          <p:cNvSpPr/>
          <p:nvPr/>
        </p:nvSpPr>
        <p:spPr>
          <a:xfrm>
            <a:off x="1028224" y="5590000"/>
            <a:ext cx="1981200" cy="266700"/>
          </a:xfrm>
          <a:prstGeom prst="roundRect">
            <a:avLst>
              <a:gd name="adj" fmla="val 19205"/>
            </a:avLst>
          </a:prstGeom>
          <a:solidFill>
            <a:srgbClr val="5C4E3D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</a:rPr>
              <a:t>DEPLOYMENT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28224" y="5920000"/>
            <a:ext cx="7250537" cy="1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B88E23"/>
                </a:solidFill>
                <a:latin typeface="DM Sans" pitchFamily="34" charset="0"/>
              </a:rPr>
              <a:t>Docker</a:t>
            </a:r>
            <a:r>
              <a:rPr lang="en-US" sz="1500" dirty="0">
                <a:solidFill>
                  <a:srgbClr val="454240"/>
                </a:solidFill>
                <a:latin typeface="DM Sans" pitchFamily="34" charset="0"/>
              </a:rPr>
              <a:t>  •  </a:t>
            </a:r>
            <a:r>
              <a:rPr lang="en-US" sz="1600" b="1" dirty="0">
                <a:solidFill>
                  <a:srgbClr val="B88E23"/>
                </a:solidFill>
                <a:latin typeface="DM Sans" pitchFamily="34" charset="0"/>
              </a:rPr>
              <a:t>Kubernetes</a:t>
            </a:r>
            <a:r>
              <a:rPr lang="en-US" sz="1500" dirty="0">
                <a:solidFill>
                  <a:srgbClr val="454240"/>
                </a:solidFill>
                <a:latin typeface="DM Sans" pitchFamily="34" charset="0"/>
              </a:rPr>
              <a:t>  •  </a:t>
            </a:r>
            <a:r>
              <a:rPr lang="en-US" sz="1600" b="1" dirty="0">
                <a:solidFill>
                  <a:srgbClr val="B88E23"/>
                </a:solidFill>
                <a:latin typeface="DM Sans" pitchFamily="34" charset="0"/>
              </a:rPr>
              <a:t>GitOps CI/CD</a:t>
            </a:r>
            <a:endParaRPr lang="en-US" sz="16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</a:rPr>
              <a:t>Tools: </a:t>
            </a:r>
            <a:r>
              <a:rPr lang="en-US" sz="1400" dirty="0" err="1">
                <a:solidFill>
                  <a:srgbClr val="454240"/>
                </a:solidFill>
                <a:latin typeface="DM Sans" pitchFamily="34" charset="0"/>
              </a:rPr>
              <a:t>Snyk</a:t>
            </a:r>
            <a:r>
              <a:rPr lang="en-US" sz="1400" dirty="0">
                <a:solidFill>
                  <a:srgbClr val="454240"/>
                </a:solidFill>
                <a:latin typeface="DM Sans" pitchFamily="34" charset="0"/>
              </a:rPr>
              <a:t> • Trivy • SonarQube • ArgoCD • Prometheus • Grafana • Keycloak • Headlamp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79E4FEC-49B6-1409-6E41-67216E505DAC}"/>
              </a:ext>
            </a:extLst>
          </p:cNvPr>
          <p:cNvSpPr/>
          <p:nvPr/>
        </p:nvSpPr>
        <p:spPr>
          <a:xfrm>
            <a:off x="529839" y="-11624"/>
            <a:ext cx="979251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SneakerHead Architecture</a:t>
            </a:r>
            <a:endParaRPr lang="en-US" sz="44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4032E2-0F06-0F12-0E79-B5F583E54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6917"/>
            <a:ext cx="14630400" cy="746268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08D5311-D990-1595-0B67-36DF2F1468D4}"/>
              </a:ext>
            </a:extLst>
          </p:cNvPr>
          <p:cNvSpPr/>
          <p:nvPr/>
        </p:nvSpPr>
        <p:spPr>
          <a:xfrm>
            <a:off x="12817786" y="7371761"/>
            <a:ext cx="1812614" cy="857839"/>
          </a:xfrm>
          <a:prstGeom prst="rect">
            <a:avLst/>
          </a:prstGeom>
          <a:solidFill>
            <a:srgbClr val="171717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1253611" y="457200"/>
            <a:ext cx="11973600" cy="520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3550" b="1" dirty="0">
                <a:solidFill>
                  <a:srgbClr val="5C4E3D"/>
                </a:solidFill>
                <a:latin typeface="Libre Baskerville" pitchFamily="34" charset="0"/>
              </a:rPr>
              <a:t>Kubernetes Infrastructure</a:t>
            </a:r>
            <a:endParaRPr lang="en-US" sz="3550" dirty="0"/>
          </a:p>
        </p:txBody>
      </p:sp>
      <p:sp>
        <p:nvSpPr>
          <p:cNvPr id="3" name="LeftPanel"/>
          <p:cNvSpPr/>
          <p:nvPr/>
        </p:nvSpPr>
        <p:spPr>
          <a:xfrm>
            <a:off x="1253611" y="1143000"/>
            <a:ext cx="5486400" cy="5943600"/>
          </a:xfrm>
          <a:prstGeom prst="roundRect">
            <a:avLst>
              <a:gd name="adj" fmla="val 3000"/>
            </a:avLst>
          </a:prstGeom>
          <a:solidFill>
            <a:srgbClr val="F7EDD4"/>
          </a:solidFill>
          <a:ln w="9525">
            <a:solidFill>
              <a:srgbClr val="DDD3BA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" name="LeftLabel"/>
          <p:cNvSpPr/>
          <p:nvPr/>
        </p:nvSpPr>
        <p:spPr>
          <a:xfrm>
            <a:off x="1710811" y="1371600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B88E23"/>
                </a:solidFill>
                <a:latin typeface="DM Sans" pitchFamily="34" charset="0"/>
              </a:rPr>
              <a:t>CLUSTER TOPOLOGY</a:t>
            </a:r>
            <a:endParaRPr lang="en-US" sz="1600" dirty="0"/>
          </a:p>
        </p:txBody>
      </p:sp>
      <p:sp>
        <p:nvSpPr>
          <p:cNvPr id="5" name="CPCard"/>
          <p:cNvSpPr/>
          <p:nvPr/>
        </p:nvSpPr>
        <p:spPr>
          <a:xfrm>
            <a:off x="1558411" y="1828800"/>
            <a:ext cx="4876800" cy="685800"/>
          </a:xfrm>
          <a:prstGeom prst="roundRect">
            <a:avLst>
              <a:gd name="adj" fmla="val 5000"/>
            </a:avLst>
          </a:prstGeom>
          <a:solidFill>
            <a:srgbClr val="5C4E3D"/>
          </a:solidFill>
          <a:ln/>
        </p:spPr>
        <p:txBody>
          <a:bodyPr wrap="square" lIns="114300" tIns="114300" rIns="114300" bIns="11430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</a:rPr>
              <a:t>Control Plane  (x1)</a:t>
            </a:r>
            <a:endParaRPr lang="en-US" sz="1600" dirty="0"/>
          </a:p>
        </p:txBody>
      </p:sp>
      <p:sp>
        <p:nvSpPr>
          <p:cNvPr id="6" name="WN1Card"/>
          <p:cNvSpPr/>
          <p:nvPr/>
        </p:nvSpPr>
        <p:spPr>
          <a:xfrm>
            <a:off x="1558411" y="2628600"/>
            <a:ext cx="2286000" cy="685800"/>
          </a:xfrm>
          <a:prstGeom prst="roundRect">
            <a:avLst>
              <a:gd name="adj" fmla="val 5000"/>
            </a:avLst>
          </a:prstGeom>
          <a:solidFill>
            <a:srgbClr val="B88E23"/>
          </a:solidFill>
          <a:ln/>
        </p:spPr>
        <p:txBody>
          <a:bodyPr wrap="square" lIns="114300" tIns="114300" rIns="114300" bIns="11430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</a:rPr>
              <a:t>Worker Node 1</a:t>
            </a:r>
            <a:endParaRPr lang="en-US" sz="1500" dirty="0"/>
          </a:p>
        </p:txBody>
      </p:sp>
      <p:sp>
        <p:nvSpPr>
          <p:cNvPr id="7" name="WN2Card"/>
          <p:cNvSpPr/>
          <p:nvPr/>
        </p:nvSpPr>
        <p:spPr>
          <a:xfrm>
            <a:off x="4149211" y="2628600"/>
            <a:ext cx="2286000" cy="685800"/>
          </a:xfrm>
          <a:prstGeom prst="roundRect">
            <a:avLst>
              <a:gd name="adj" fmla="val 5000"/>
            </a:avLst>
          </a:prstGeom>
          <a:solidFill>
            <a:srgbClr val="B88E23"/>
          </a:solidFill>
          <a:ln/>
        </p:spPr>
        <p:txBody>
          <a:bodyPr wrap="square" lIns="114300" tIns="114300" rIns="114300" bIns="11430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</a:rPr>
              <a:t>Worker Node 2</a:t>
            </a:r>
            <a:endParaRPr lang="en-US" sz="1500" dirty="0"/>
          </a:p>
        </p:txBody>
      </p:sp>
      <p:sp>
        <p:nvSpPr>
          <p:cNvPr id="8" name="HelmNote"/>
          <p:cNvSpPr/>
          <p:nvPr/>
        </p:nvSpPr>
        <p:spPr>
          <a:xfrm>
            <a:off x="1558411" y="3543300"/>
            <a:ext cx="4876800" cy="14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200"/>
              </a:lnSpc>
            </a:pPr>
            <a:r>
              <a:rPr lang="en-US" sz="1400" b="1" dirty="0" err="1">
                <a:solidFill>
                  <a:srgbClr val="6B5D4E"/>
                </a:solidFill>
                <a:latin typeface="DM Sans" pitchFamily="34" charset="0"/>
              </a:rPr>
              <a:t>HAProxy</a:t>
            </a:r>
            <a:r>
              <a:rPr lang="en-US" sz="1400" b="1" dirty="0">
                <a:solidFill>
                  <a:srgbClr val="6B5D4E"/>
                </a:solidFill>
                <a:latin typeface="DM Sans" pitchFamily="34" charset="0"/>
              </a:rPr>
              <a:t> load-balances across workers via </a:t>
            </a:r>
            <a:r>
              <a:rPr lang="en-US" sz="1400" b="1" dirty="0" err="1">
                <a:solidFill>
                  <a:srgbClr val="6B5D4E"/>
                </a:solidFill>
                <a:latin typeface="DM Sans" pitchFamily="34" charset="0"/>
              </a:rPr>
              <a:t>NodePort</a:t>
            </a:r>
            <a:endParaRPr lang="en-US" sz="1300" b="1" dirty="0">
              <a:solidFill>
                <a:srgbClr val="5C4E3D"/>
              </a:solidFill>
              <a:latin typeface="DM Sans" pitchFamily="34" charset="0"/>
            </a:endParaRPr>
          </a:p>
          <a:p>
            <a:pPr marL="0" indent="0" algn="ctr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5C4E3D"/>
                </a:solidFill>
                <a:latin typeface="DM Sans" pitchFamily="34" charset="0"/>
              </a:rPr>
              <a:t>Helm umbrella chart  (10 sub-charts)</a:t>
            </a:r>
            <a:endParaRPr lang="en-US" sz="1300" dirty="0"/>
          </a:p>
          <a:p>
            <a:pPr marL="0" indent="0" algn="ctr">
              <a:lnSpc>
                <a:spcPts val="2200"/>
              </a:lnSpc>
              <a:buNone/>
            </a:pPr>
            <a:r>
              <a:rPr lang="en-US" sz="1300" dirty="0">
                <a:solidFill>
                  <a:srgbClr val="6B5D4E"/>
                </a:solidFill>
                <a:latin typeface="DM Sans" pitchFamily="34" charset="0"/>
              </a:rPr>
              <a:t>NFS-backed PVCs  (dev 2Gi / prod 4Gi per DB)</a:t>
            </a:r>
            <a:endParaRPr lang="en-US" sz="1300" dirty="0"/>
          </a:p>
        </p:txBody>
      </p:sp>
      <p:sp>
        <p:nvSpPr>
          <p:cNvPr id="10" name="NSTag"/>
          <p:cNvSpPr/>
          <p:nvPr/>
        </p:nvSpPr>
        <p:spPr>
          <a:xfrm>
            <a:off x="6968611" y="1143000"/>
            <a:ext cx="1905000" cy="304800"/>
          </a:xfrm>
          <a:prstGeom prst="roundRect">
            <a:avLst>
              <a:gd name="adj" fmla="val 19205"/>
            </a:avLst>
          </a:prstGeom>
          <a:solidFill>
            <a:srgbClr val="F7EDD4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</a:rPr>
              <a:t>NAMESPACES (9)</a:t>
            </a:r>
            <a:endParaRPr lang="en-US" sz="1100" dirty="0"/>
          </a:p>
        </p:txBody>
      </p:sp>
      <p:sp>
        <p:nvSpPr>
          <p:cNvPr id="11" name="NSContent"/>
          <p:cNvSpPr/>
          <p:nvPr/>
        </p:nvSpPr>
        <p:spPr>
          <a:xfrm>
            <a:off x="6968611" y="1524000"/>
            <a:ext cx="6258600" cy="1371600"/>
          </a:xfrm>
          <a:prstGeom prst="roundRect">
            <a:avLst>
              <a:gd name="adj" fmla="val 3779"/>
            </a:avLst>
          </a:prstGeom>
          <a:solidFill>
            <a:srgbClr val="FDFAF4"/>
          </a:solidFill>
          <a:ln w="9525">
            <a:solidFill>
              <a:srgbClr val="DDD3BA"/>
            </a:solidFill>
          </a:ln>
        </p:spPr>
        <p:txBody>
          <a:bodyPr wrap="square" lIns="228600" tIns="171450" rIns="228600" bIns="17145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B88E23"/>
                </a:solidFill>
                <a:latin typeface="DM Sans" pitchFamily="34" charset="0"/>
              </a:rPr>
              <a:t>sneakerhead-dev</a:t>
            </a:r>
            <a:r>
              <a:rPr lang="en-US" sz="1300" dirty="0">
                <a:solidFill>
                  <a:srgbClr val="454240"/>
                </a:solidFill>
                <a:latin typeface="DM Sans" pitchFamily="34" charset="0"/>
              </a:rPr>
              <a:t>  — auto-sync enabled</a:t>
            </a:r>
            <a:endParaRPr lang="en-US" sz="13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5C4E3D"/>
                </a:solidFill>
                <a:latin typeface="DM Sans" pitchFamily="34" charset="0"/>
              </a:rPr>
              <a:t>sneakerhead-prod</a:t>
            </a:r>
            <a:r>
              <a:rPr lang="en-US" sz="1300" dirty="0">
                <a:solidFill>
                  <a:srgbClr val="454240"/>
                </a:solidFill>
                <a:latin typeface="DM Sans" pitchFamily="34" charset="0"/>
              </a:rPr>
              <a:t>  — manual sync (safe gate)</a:t>
            </a:r>
            <a:endParaRPr lang="en-US" sz="1300" dirty="0"/>
          </a:p>
          <a:p>
            <a:pPr>
              <a:lnSpc>
                <a:spcPts val="2100"/>
              </a:lnSpc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</a:rPr>
              <a:t>argocd  •  kgateway-system  •  monitoring  •  </a:t>
            </a:r>
            <a:r>
              <a:rPr lang="en-US" sz="1300" dirty="0" err="1">
                <a:solidFill>
                  <a:srgbClr val="454240"/>
                </a:solidFill>
                <a:latin typeface="DM Sans" pitchFamily="34" charset="0"/>
              </a:rPr>
              <a:t>keycloak</a:t>
            </a:r>
            <a:r>
              <a:rPr lang="en-US" sz="1300" dirty="0">
                <a:solidFill>
                  <a:srgbClr val="454240"/>
                </a:solidFill>
                <a:latin typeface="DM Sans" pitchFamily="34" charset="0"/>
              </a:rPr>
              <a:t> •  headlamp •  sealed-secrets •  </a:t>
            </a:r>
            <a:r>
              <a:rPr lang="en-US" sz="1300" dirty="0" err="1">
                <a:solidFill>
                  <a:srgbClr val="454240"/>
                </a:solidFill>
                <a:latin typeface="DM Sans" pitchFamily="34" charset="0"/>
              </a:rPr>
              <a:t>keycloak</a:t>
            </a:r>
            <a:r>
              <a:rPr lang="en-US" sz="1300" dirty="0">
                <a:solidFill>
                  <a:srgbClr val="454240"/>
                </a:solidFill>
                <a:latin typeface="DM Sans" pitchFamily="34" charset="0"/>
              </a:rPr>
              <a:t> •  </a:t>
            </a:r>
            <a:r>
              <a:rPr lang="en-US" sz="1300" dirty="0" err="1">
                <a:solidFill>
                  <a:srgbClr val="454240"/>
                </a:solidFill>
                <a:latin typeface="DM Sans" pitchFamily="34" charset="0"/>
              </a:rPr>
              <a:t>nfs</a:t>
            </a:r>
            <a:r>
              <a:rPr lang="en-US" sz="1300" dirty="0">
                <a:solidFill>
                  <a:srgbClr val="454240"/>
                </a:solidFill>
                <a:latin typeface="DM Sans" pitchFamily="34" charset="0"/>
              </a:rPr>
              <a:t>-provisioner </a:t>
            </a:r>
            <a:endParaRPr lang="en-US" sz="1300" dirty="0"/>
          </a:p>
        </p:txBody>
      </p:sp>
      <p:sp>
        <p:nvSpPr>
          <p:cNvPr id="12" name="WLTag"/>
          <p:cNvSpPr/>
          <p:nvPr/>
        </p:nvSpPr>
        <p:spPr>
          <a:xfrm>
            <a:off x="6968611" y="3084873"/>
            <a:ext cx="1752600" cy="304800"/>
          </a:xfrm>
          <a:prstGeom prst="roundRect">
            <a:avLst>
              <a:gd name="adj" fmla="val 19205"/>
            </a:avLst>
          </a:prstGeom>
          <a:solidFill>
            <a:srgbClr val="F7EDD4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</a:rPr>
              <a:t>WORKLOADS</a:t>
            </a:r>
            <a:endParaRPr lang="en-US" sz="1100" dirty="0"/>
          </a:p>
        </p:txBody>
      </p:sp>
      <p:sp>
        <p:nvSpPr>
          <p:cNvPr id="13" name="WLContent"/>
          <p:cNvSpPr/>
          <p:nvPr/>
        </p:nvSpPr>
        <p:spPr>
          <a:xfrm>
            <a:off x="6968611" y="3465873"/>
            <a:ext cx="6258600" cy="1600200"/>
          </a:xfrm>
          <a:prstGeom prst="roundRect">
            <a:avLst>
              <a:gd name="adj" fmla="val 3779"/>
            </a:avLst>
          </a:prstGeom>
          <a:solidFill>
            <a:srgbClr val="FDFAF4"/>
          </a:solidFill>
          <a:ln w="9525">
            <a:solidFill>
              <a:srgbClr val="DDD3BA"/>
            </a:solidFill>
          </a:ln>
        </p:spPr>
        <p:txBody>
          <a:bodyPr wrap="square" lIns="228600" tIns="171450" rIns="228600" bIns="171450" rtlCol="0" anchor="t"/>
          <a:lstStyle/>
          <a:p>
            <a:pPr>
              <a:lnSpc>
                <a:spcPts val="2100"/>
              </a:lnSpc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</a:rPr>
              <a:t>4 Deployments (per env): frontend, user, product, order service</a:t>
            </a:r>
            <a:endParaRPr lang="en-US" sz="1300" b="1" dirty="0">
              <a:solidFill>
                <a:srgbClr val="B88E23"/>
              </a:solidFill>
              <a:latin typeface="DM Sans" pitchFamily="34" charset="0"/>
            </a:endParaRPr>
          </a:p>
          <a:p>
            <a:pPr>
              <a:lnSpc>
                <a:spcPts val="2100"/>
              </a:lnSpc>
            </a:pPr>
            <a:r>
              <a:rPr lang="en-US" sz="1300" b="1" dirty="0">
                <a:solidFill>
                  <a:srgbClr val="B88E23"/>
                </a:solidFill>
                <a:latin typeface="DM Sans" pitchFamily="34" charset="0"/>
              </a:rPr>
              <a:t>Dev:</a:t>
            </a:r>
            <a:r>
              <a:rPr lang="en-US" sz="1300" dirty="0">
                <a:solidFill>
                  <a:srgbClr val="454240"/>
                </a:solidFill>
                <a:latin typeface="DM Sans" pitchFamily="34" charset="0"/>
              </a:rPr>
              <a:t>  2–4 replicas  via HPA (frontend)  •  CPU/Mem trigger: 60%/70%</a:t>
            </a:r>
          </a:p>
          <a:p>
            <a:pPr>
              <a:lnSpc>
                <a:spcPts val="2100"/>
              </a:lnSpc>
            </a:pPr>
            <a:r>
              <a:rPr lang="en-US" sz="1300" b="1" dirty="0">
                <a:solidFill>
                  <a:srgbClr val="5C4E3D"/>
                </a:solidFill>
                <a:latin typeface="DM Sans" pitchFamily="34" charset="0"/>
              </a:rPr>
              <a:t>Prod:</a:t>
            </a:r>
            <a:r>
              <a:rPr lang="en-US" sz="1300" dirty="0">
                <a:solidFill>
                  <a:srgbClr val="454240"/>
                </a:solidFill>
                <a:latin typeface="DM Sans" pitchFamily="34" charset="0"/>
              </a:rPr>
              <a:t>  2–10 replicas via HPA (frontend) •  CPU/Mem trigger: 60%/70%</a:t>
            </a:r>
            <a:endParaRPr lang="en-US" sz="13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</a:rPr>
              <a:t>3 dedicated PostgreSQL </a:t>
            </a:r>
            <a:r>
              <a:rPr lang="en-US" sz="1300" dirty="0" err="1">
                <a:solidFill>
                  <a:srgbClr val="454240"/>
                </a:solidFill>
                <a:latin typeface="DM Sans" pitchFamily="34" charset="0"/>
              </a:rPr>
              <a:t>StatefulSets</a:t>
            </a:r>
            <a:r>
              <a:rPr lang="en-US" sz="1300" dirty="0">
                <a:solidFill>
                  <a:srgbClr val="454240"/>
                </a:solidFill>
                <a:latin typeface="DM Sans" pitchFamily="34" charset="0"/>
              </a:rPr>
              <a:t>  •  NFS-backed PVCs</a:t>
            </a:r>
            <a:endParaRPr lang="en-US" sz="1300" dirty="0"/>
          </a:p>
        </p:txBody>
      </p:sp>
      <p:sp>
        <p:nvSpPr>
          <p:cNvPr id="15" name="CLContent"/>
          <p:cNvSpPr/>
          <p:nvPr/>
        </p:nvSpPr>
        <p:spPr>
          <a:xfrm>
            <a:off x="6968611" y="5619136"/>
            <a:ext cx="6258600" cy="1467463"/>
          </a:xfrm>
          <a:prstGeom prst="roundRect">
            <a:avLst>
              <a:gd name="adj" fmla="val 3779"/>
            </a:avLst>
          </a:prstGeom>
          <a:solidFill>
            <a:srgbClr val="FDFAF4"/>
          </a:solidFill>
          <a:ln w="9525">
            <a:solidFill>
              <a:srgbClr val="DDD3BA"/>
            </a:solidFill>
          </a:ln>
        </p:spPr>
        <p:txBody>
          <a:bodyPr wrap="square" lIns="228600" tIns="171450" rIns="228600" bIns="171450" rtlCol="0" anchor="t"/>
          <a:lstStyle/>
          <a:p>
            <a:pPr>
              <a:lnSpc>
                <a:spcPts val="2100"/>
              </a:lnSpc>
            </a:pPr>
            <a:r>
              <a:rPr lang="en-US" sz="1300" dirty="0" err="1">
                <a:solidFill>
                  <a:srgbClr val="454240"/>
                </a:solidFill>
                <a:latin typeface="DM Sans" pitchFamily="34" charset="0"/>
              </a:rPr>
              <a:t>kgateway</a:t>
            </a:r>
            <a:r>
              <a:rPr lang="en-US" sz="1300" dirty="0">
                <a:solidFill>
                  <a:srgbClr val="454240"/>
                </a:solidFill>
                <a:latin typeface="DM Sans" pitchFamily="34" charset="0"/>
              </a:rPr>
              <a:t> (Gateway API) and 4 </a:t>
            </a:r>
            <a:r>
              <a:rPr lang="en-US" sz="1300" dirty="0" err="1">
                <a:solidFill>
                  <a:srgbClr val="454240"/>
                </a:solidFill>
                <a:latin typeface="DM Sans" pitchFamily="34" charset="0"/>
              </a:rPr>
              <a:t>HTTPRoutes</a:t>
            </a:r>
            <a:r>
              <a:rPr lang="en-US" sz="1300" dirty="0">
                <a:solidFill>
                  <a:srgbClr val="454240"/>
                </a:solidFill>
                <a:latin typeface="DM Sans" pitchFamily="34" charset="0"/>
              </a:rPr>
              <a:t> per env</a:t>
            </a:r>
            <a:endParaRPr lang="en-US" sz="1300" dirty="0"/>
          </a:p>
          <a:p>
            <a:pPr>
              <a:lnSpc>
                <a:spcPts val="2100"/>
              </a:lnSpc>
            </a:pPr>
            <a:r>
              <a:rPr lang="en-US" sz="1300" dirty="0" err="1">
                <a:solidFill>
                  <a:srgbClr val="454240"/>
                </a:solidFill>
                <a:latin typeface="DM Sans" pitchFamily="34" charset="0"/>
              </a:rPr>
              <a:t>NetworkPolicy</a:t>
            </a:r>
            <a:r>
              <a:rPr lang="en-US" sz="1300" dirty="0">
                <a:solidFill>
                  <a:srgbClr val="454240"/>
                </a:solidFill>
                <a:latin typeface="DM Sans" pitchFamily="34" charset="0"/>
              </a:rPr>
              <a:t>  •  pods reachable only from gateway</a:t>
            </a:r>
          </a:p>
          <a:p>
            <a:pPr>
              <a:lnSpc>
                <a:spcPts val="2100"/>
              </a:lnSpc>
            </a:pPr>
            <a:r>
              <a:rPr lang="en-US" sz="1300" dirty="0">
                <a:latin typeface="DM Sans" pitchFamily="34" charset="0"/>
              </a:rPr>
              <a:t>Sealed Secrets for all credentials</a:t>
            </a:r>
            <a:endParaRPr lang="en-US" sz="1300" dirty="0"/>
          </a:p>
          <a:p>
            <a:pPr>
              <a:lnSpc>
                <a:spcPts val="2100"/>
              </a:lnSpc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</a:rPr>
              <a:t>RBAC: Role + </a:t>
            </a:r>
            <a:r>
              <a:rPr lang="en-US" sz="1300" dirty="0" err="1">
                <a:solidFill>
                  <a:srgbClr val="454240"/>
                </a:solidFill>
                <a:latin typeface="DM Sans" pitchFamily="34" charset="0"/>
              </a:rPr>
              <a:t>ClusterRole</a:t>
            </a:r>
            <a:r>
              <a:rPr lang="en-US" sz="1300" dirty="0">
                <a:solidFill>
                  <a:srgbClr val="454240"/>
                </a:solidFill>
                <a:latin typeface="DM Sans" pitchFamily="34" charset="0"/>
              </a:rPr>
              <a:t> per env  •  OIDC group-mapped</a:t>
            </a:r>
            <a:endParaRPr lang="en-US" sz="1300" dirty="0"/>
          </a:p>
        </p:txBody>
      </p:sp>
      <p:sp>
        <p:nvSpPr>
          <p:cNvPr id="9" name="CLTag">
            <a:extLst>
              <a:ext uri="{FF2B5EF4-FFF2-40B4-BE49-F238E27FC236}">
                <a16:creationId xmlns:a16="http://schemas.microsoft.com/office/drawing/2014/main" id="{2A233355-8CD0-337A-876B-4ABD183F0AC7}"/>
              </a:ext>
            </a:extLst>
          </p:cNvPr>
          <p:cNvSpPr/>
          <p:nvPr/>
        </p:nvSpPr>
        <p:spPr>
          <a:xfrm>
            <a:off x="6968611" y="5239365"/>
            <a:ext cx="2743200" cy="304800"/>
          </a:xfrm>
          <a:prstGeom prst="roundRect">
            <a:avLst>
              <a:gd name="adj" fmla="val 19205"/>
            </a:avLst>
          </a:prstGeom>
          <a:solidFill>
            <a:srgbClr val="F7EDD4"/>
          </a:solidFill>
          <a:ln/>
        </p:spPr>
        <p:txBody>
          <a:bodyPr wrap="none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</a:rPr>
              <a:t>NETWORKING &amp; SECURITY</a:t>
            </a:r>
            <a:endParaRPr lang="en-US" sz="11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B7F66E-5944-2C37-8341-EBD7A1AEABA7}"/>
              </a:ext>
            </a:extLst>
          </p:cNvPr>
          <p:cNvSpPr/>
          <p:nvPr/>
        </p:nvSpPr>
        <p:spPr>
          <a:xfrm>
            <a:off x="12840929" y="7708490"/>
            <a:ext cx="1789471" cy="4227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oolsPanel">
            <a:extLst>
              <a:ext uri="{FF2B5EF4-FFF2-40B4-BE49-F238E27FC236}">
                <a16:creationId xmlns:a16="http://schemas.microsoft.com/office/drawing/2014/main" id="{246707DF-E889-D289-BAAE-AE4315C20E4F}"/>
              </a:ext>
            </a:extLst>
          </p:cNvPr>
          <p:cNvSpPr/>
          <p:nvPr/>
        </p:nvSpPr>
        <p:spPr>
          <a:xfrm>
            <a:off x="1558411" y="4572000"/>
            <a:ext cx="4876800" cy="1676400"/>
          </a:xfrm>
          <a:prstGeom prst="roundRect">
            <a:avLst>
              <a:gd name="adj" fmla="val 3000"/>
            </a:avLst>
          </a:prstGeom>
          <a:solidFill>
            <a:srgbClr val="5C4E3D"/>
          </a:solidFill>
          <a:ln/>
        </p:spPr>
        <p:txBody>
          <a:bodyPr wrap="square" lIns="171450" tIns="114300" rIns="171450" bIns="11430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F7EDD4"/>
                </a:solidFill>
                <a:latin typeface="DM Sans" pitchFamily="34" charset="0"/>
              </a:rPr>
              <a:t>IN-CLUSTER TOOLS</a:t>
            </a:r>
          </a:p>
          <a:p>
            <a:pPr marL="0" indent="0" algn="l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B88E23"/>
                </a:solidFill>
                <a:latin typeface="DM Sans" pitchFamily="34" charset="0"/>
              </a:rPr>
              <a:t>ArgoCD</a:t>
            </a:r>
            <a:r>
              <a:rPr lang="en-US" sz="1100" dirty="0">
                <a:solidFill>
                  <a:srgbClr val="FDFAF4"/>
                </a:solidFill>
                <a:latin typeface="DM Sans" pitchFamily="34" charset="0"/>
              </a:rPr>
              <a:t>  GitOps CD  •  App-of-Apps pattern</a:t>
            </a:r>
          </a:p>
          <a:p>
            <a:pPr marL="0" indent="0" algn="l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B88E23"/>
                </a:solidFill>
                <a:latin typeface="DM Sans" pitchFamily="34" charset="0"/>
              </a:rPr>
              <a:t>Keycloak</a:t>
            </a:r>
            <a:r>
              <a:rPr lang="en-US" sz="1100" dirty="0">
                <a:solidFill>
                  <a:srgbClr val="FDFAF4"/>
                </a:solidFill>
                <a:latin typeface="DM Sans" pitchFamily="34" charset="0"/>
              </a:rPr>
              <a:t>  OIDC Identity Provider</a:t>
            </a:r>
          </a:p>
          <a:p>
            <a:pPr marL="0" indent="0" algn="l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B88E23"/>
                </a:solidFill>
                <a:latin typeface="DM Sans" pitchFamily="34" charset="0"/>
              </a:rPr>
              <a:t>Prometheus + Grafana</a:t>
            </a:r>
            <a:r>
              <a:rPr lang="en-US" sz="1100" dirty="0">
                <a:solidFill>
                  <a:srgbClr val="FDFAF4"/>
                </a:solidFill>
                <a:latin typeface="DM Sans" pitchFamily="34" charset="0"/>
              </a:rPr>
              <a:t>  Metrics + Dashboards</a:t>
            </a:r>
          </a:p>
          <a:p>
            <a:pPr marL="0" indent="0" algn="l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B88E23"/>
                </a:solidFill>
                <a:latin typeface="DM Sans" pitchFamily="34" charset="0"/>
              </a:rPr>
              <a:t>Headlamp</a:t>
            </a:r>
            <a:r>
              <a:rPr lang="en-US" sz="1100" dirty="0">
                <a:solidFill>
                  <a:srgbClr val="FDFAF4"/>
                </a:solidFill>
                <a:latin typeface="DM Sans" pitchFamily="34" charset="0"/>
              </a:rPr>
              <a:t>  K8s Dashboard  •  OIDC-gated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304800"/>
            <a:ext cx="11973600" cy="520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b="1" dirty="0">
                <a:solidFill>
                  <a:srgbClr val="5C4E3D"/>
                </a:solidFill>
                <a:latin typeface="Libre Baskerville" pitchFamily="34" charset="0"/>
              </a:rPr>
              <a:t>Security Layer — Sealed Secrets &amp; Network Policies</a:t>
            </a:r>
          </a:p>
        </p:txBody>
      </p:sp>
      <p:sp>
        <p:nvSpPr>
          <p:cNvPr id="3" name="SSPanel"/>
          <p:cNvSpPr/>
          <p:nvPr/>
        </p:nvSpPr>
        <p:spPr>
          <a:xfrm>
            <a:off x="457200" y="1256072"/>
            <a:ext cx="6096000" cy="6096000"/>
          </a:xfrm>
          <a:prstGeom prst="roundRect">
            <a:avLst>
              <a:gd name="adj" fmla="val 2500"/>
            </a:avLst>
          </a:prstGeom>
          <a:solidFill>
            <a:srgbClr val="F7EDD4"/>
          </a:solidFill>
          <a:ln w="9525">
            <a:solidFill>
              <a:srgbClr val="DDD3BA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" name="SSHeader"/>
          <p:cNvSpPr/>
          <p:nvPr/>
        </p:nvSpPr>
        <p:spPr>
          <a:xfrm>
            <a:off x="762000" y="1408472"/>
            <a:ext cx="5486400" cy="457200"/>
          </a:xfrm>
          <a:prstGeom prst="roundRect">
            <a:avLst>
              <a:gd name="adj" fmla="val 5000"/>
            </a:avLst>
          </a:prstGeom>
          <a:solidFill>
            <a:srgbClr val="5C4E3D"/>
          </a:solidFill>
          <a:ln/>
        </p:spPr>
        <p:txBody>
          <a:bodyPr wrap="square" lIns="114300" tIns="114300" rIns="114300" bIns="11430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DM Sans" pitchFamily="34" charset="0"/>
              </a:rPr>
              <a:t>SEALED SECRETS</a:t>
            </a:r>
          </a:p>
        </p:txBody>
      </p:sp>
      <p:sp>
        <p:nvSpPr>
          <p:cNvPr id="5" name="SSStep1"/>
          <p:cNvSpPr/>
          <p:nvPr/>
        </p:nvSpPr>
        <p:spPr>
          <a:xfrm>
            <a:off x="762000" y="2018072"/>
            <a:ext cx="5486400" cy="685800"/>
          </a:xfrm>
          <a:prstGeom prst="roundRect">
            <a:avLst>
              <a:gd name="adj" fmla="val 4000"/>
            </a:avLst>
          </a:prstGeom>
          <a:solidFill>
            <a:srgbClr val="FDFAF4"/>
          </a:solidFill>
          <a:ln w="9525">
            <a:solidFill>
              <a:srgbClr val="B88E23"/>
            </a:solidFill>
          </a:ln>
        </p:spPr>
        <p:txBody>
          <a:bodyPr wrap="square" lIns="171450" tIns="91440" rIns="171450" bIns="91440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B88E23"/>
                </a:solidFill>
                <a:latin typeface="DM Sans" pitchFamily="34" charset="0"/>
              </a:rPr>
              <a:t>1  Encrypt  </a:t>
            </a:r>
            <a:r>
              <a:rPr lang="en-US" sz="1200" dirty="0">
                <a:solidFill>
                  <a:srgbClr val="454240"/>
                </a:solidFill>
                <a:latin typeface="DM Sans" pitchFamily="34" charset="0"/>
              </a:rPr>
              <a:t>kubeseal CLI encrypts using controller public key</a:t>
            </a:r>
          </a:p>
        </p:txBody>
      </p:sp>
      <p:sp>
        <p:nvSpPr>
          <p:cNvPr id="51" name="Arr1"/>
          <p:cNvSpPr/>
          <p:nvPr/>
        </p:nvSpPr>
        <p:spPr>
          <a:xfrm>
            <a:off x="2819400" y="2780072"/>
            <a:ext cx="457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88E23"/>
                </a:solidFill>
                <a:latin typeface="DM Sans" pitchFamily="34" charset="0"/>
              </a:rPr>
              <a:t>▼</a:t>
            </a:r>
          </a:p>
        </p:txBody>
      </p:sp>
      <p:sp>
        <p:nvSpPr>
          <p:cNvPr id="6" name="SSStep2"/>
          <p:cNvSpPr/>
          <p:nvPr/>
        </p:nvSpPr>
        <p:spPr>
          <a:xfrm>
            <a:off x="762000" y="3084872"/>
            <a:ext cx="5486400" cy="685800"/>
          </a:xfrm>
          <a:prstGeom prst="roundRect">
            <a:avLst>
              <a:gd name="adj" fmla="val 4000"/>
            </a:avLst>
          </a:prstGeom>
          <a:solidFill>
            <a:srgbClr val="FDFAF4"/>
          </a:solidFill>
          <a:ln w="9525">
            <a:solidFill>
              <a:srgbClr val="B88E23"/>
            </a:solidFill>
          </a:ln>
        </p:spPr>
        <p:txBody>
          <a:bodyPr wrap="square" lIns="171450" tIns="91440" rIns="171450" bIns="91440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B88E23"/>
                </a:solidFill>
                <a:latin typeface="DM Sans" pitchFamily="34" charset="0"/>
              </a:rPr>
              <a:t>2  Commit  </a:t>
            </a:r>
            <a:r>
              <a:rPr lang="en-US" sz="1200" dirty="0">
                <a:solidFill>
                  <a:srgbClr val="454240"/>
                </a:solidFill>
                <a:latin typeface="DM Sans" pitchFamily="34" charset="0"/>
              </a:rPr>
              <a:t>SealedSecret CRD stored safely in Git repository</a:t>
            </a:r>
          </a:p>
        </p:txBody>
      </p:sp>
      <p:sp>
        <p:nvSpPr>
          <p:cNvPr id="52" name="Arr2"/>
          <p:cNvSpPr/>
          <p:nvPr/>
        </p:nvSpPr>
        <p:spPr>
          <a:xfrm>
            <a:off x="2819400" y="3846872"/>
            <a:ext cx="457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88E23"/>
                </a:solidFill>
                <a:latin typeface="DM Sans" pitchFamily="34" charset="0"/>
              </a:rPr>
              <a:t>▼</a:t>
            </a:r>
          </a:p>
        </p:txBody>
      </p:sp>
      <p:sp>
        <p:nvSpPr>
          <p:cNvPr id="7" name="SSStep3"/>
          <p:cNvSpPr/>
          <p:nvPr/>
        </p:nvSpPr>
        <p:spPr>
          <a:xfrm>
            <a:off x="762000" y="4151672"/>
            <a:ext cx="5486400" cy="685800"/>
          </a:xfrm>
          <a:prstGeom prst="roundRect">
            <a:avLst>
              <a:gd name="adj" fmla="val 4000"/>
            </a:avLst>
          </a:prstGeom>
          <a:solidFill>
            <a:srgbClr val="FDFAF4"/>
          </a:solidFill>
          <a:ln w="9525">
            <a:solidFill>
              <a:srgbClr val="B88E23"/>
            </a:solidFill>
          </a:ln>
        </p:spPr>
        <p:txBody>
          <a:bodyPr wrap="square" lIns="171450" tIns="91440" rIns="171450" bIns="91440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B88E23"/>
                </a:solidFill>
                <a:latin typeface="DM Sans" pitchFamily="34" charset="0"/>
              </a:rPr>
              <a:t>3  Decrypt  </a:t>
            </a:r>
            <a:r>
              <a:rPr lang="en-US" sz="1200" dirty="0">
                <a:solidFill>
                  <a:srgbClr val="454240"/>
                </a:solidFill>
                <a:latin typeface="DM Sans" pitchFamily="34" charset="0"/>
              </a:rPr>
              <a:t>Sealed Secrets controller decrypts at runtime</a:t>
            </a:r>
          </a:p>
        </p:txBody>
      </p:sp>
      <p:sp>
        <p:nvSpPr>
          <p:cNvPr id="8" name="SSCallout"/>
          <p:cNvSpPr/>
          <p:nvPr/>
        </p:nvSpPr>
        <p:spPr>
          <a:xfrm>
            <a:off x="762000" y="49898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00" dirty="0">
                <a:solidFill>
                  <a:srgbClr val="6B5D4E"/>
                </a:solidFill>
                <a:latin typeface="DM Sans" pitchFamily="34" charset="0"/>
              </a:rPr>
              <a:t>6 SealedSecrets per env — DATABASE_URL, JWT_SECRET, POSTGRES credentials</a:t>
            </a:r>
          </a:p>
        </p:txBody>
      </p:sp>
      <p:sp>
        <p:nvSpPr>
          <p:cNvPr id="80" name="SSScopeNote"/>
          <p:cNvSpPr/>
          <p:nvPr/>
        </p:nvSpPr>
        <p:spPr>
          <a:xfrm>
            <a:off x="762000" y="5294672"/>
            <a:ext cx="5486400" cy="685800"/>
          </a:xfrm>
          <a:prstGeom prst="roundRect">
            <a:avLst>
              <a:gd name="adj" fmla="val 4000"/>
            </a:avLst>
          </a:prstGeom>
          <a:solidFill>
            <a:srgbClr val="5C4E3D"/>
          </a:solidFill>
          <a:ln/>
        </p:spPr>
        <p:txBody>
          <a:bodyPr wrap="square" lIns="171450" tIns="91440" rIns="171450" bIns="9144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00" dirty="0">
                <a:solidFill>
                  <a:srgbClr val="F7EDD4"/>
                </a:solidFill>
                <a:latin typeface="DM Sans" pitchFamily="34" charset="0"/>
              </a:rPr>
              <a:t>Private key lives in cluster only — ciphertext is safe in Git</a:t>
            </a:r>
          </a:p>
        </p:txBody>
      </p:sp>
      <p:sp>
        <p:nvSpPr>
          <p:cNvPr id="9" name="NPPanel"/>
          <p:cNvSpPr/>
          <p:nvPr/>
        </p:nvSpPr>
        <p:spPr>
          <a:xfrm>
            <a:off x="7529047" y="1256072"/>
            <a:ext cx="5676600" cy="6096000"/>
          </a:xfrm>
          <a:prstGeom prst="roundRect">
            <a:avLst>
              <a:gd name="adj" fmla="val 2500"/>
            </a:avLst>
          </a:prstGeom>
          <a:solidFill>
            <a:srgbClr val="F7EDD4"/>
          </a:solidFill>
          <a:ln w="9525">
            <a:solidFill>
              <a:srgbClr val="DDD3BA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0" name="NPHeader"/>
          <p:cNvSpPr/>
          <p:nvPr/>
        </p:nvSpPr>
        <p:spPr>
          <a:xfrm>
            <a:off x="7833847" y="1408472"/>
            <a:ext cx="5067000" cy="457200"/>
          </a:xfrm>
          <a:prstGeom prst="roundRect">
            <a:avLst>
              <a:gd name="adj" fmla="val 5000"/>
            </a:avLst>
          </a:prstGeom>
          <a:solidFill>
            <a:srgbClr val="B88E23"/>
          </a:solidFill>
          <a:ln/>
        </p:spPr>
        <p:txBody>
          <a:bodyPr wrap="square" lIns="114300" tIns="114300" rIns="114300" bIns="11430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DM Sans" pitchFamily="34" charset="0"/>
              </a:rPr>
              <a:t>NETWORK POLICIES</a:t>
            </a:r>
          </a:p>
        </p:txBody>
      </p:sp>
      <p:sp>
        <p:nvSpPr>
          <p:cNvPr id="11" name="NPInternet"/>
          <p:cNvSpPr/>
          <p:nvPr/>
        </p:nvSpPr>
        <p:spPr>
          <a:xfrm>
            <a:off x="9395647" y="2094272"/>
            <a:ext cx="1943100" cy="457200"/>
          </a:xfrm>
          <a:prstGeom prst="roundRect">
            <a:avLst>
              <a:gd name="adj" fmla="val 10000"/>
            </a:avLst>
          </a:prstGeom>
          <a:solidFill>
            <a:srgbClr val="6B5D4E"/>
          </a:solidFill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</a:rPr>
              <a:t>Internet</a:t>
            </a:r>
          </a:p>
        </p:txBody>
      </p:sp>
      <p:sp>
        <p:nvSpPr>
          <p:cNvPr id="53" name="Arr3"/>
          <p:cNvSpPr/>
          <p:nvPr/>
        </p:nvSpPr>
        <p:spPr>
          <a:xfrm>
            <a:off x="10214347" y="2627672"/>
            <a:ext cx="304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8E23"/>
                </a:solidFill>
                <a:latin typeface="DM Sans" pitchFamily="34" charset="0"/>
              </a:rPr>
              <a:t>▼</a:t>
            </a:r>
          </a:p>
        </p:txBody>
      </p:sp>
      <p:sp>
        <p:nvSpPr>
          <p:cNvPr id="12" name="NPGateway"/>
          <p:cNvSpPr/>
          <p:nvPr/>
        </p:nvSpPr>
        <p:spPr>
          <a:xfrm>
            <a:off x="8291047" y="3008672"/>
            <a:ext cx="4114800" cy="457200"/>
          </a:xfrm>
          <a:prstGeom prst="roundRect">
            <a:avLst>
              <a:gd name="adj" fmla="val 5000"/>
            </a:avLst>
          </a:prstGeom>
          <a:solidFill>
            <a:srgbClr val="5C4E3D"/>
          </a:solidFill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EDD4"/>
                </a:solidFill>
                <a:latin typeface="DM Sans" pitchFamily="34" charset="0"/>
              </a:rPr>
              <a:t>kgateway  (entry point)</a:t>
            </a:r>
          </a:p>
        </p:txBody>
      </p:sp>
      <p:sp>
        <p:nvSpPr>
          <p:cNvPr id="54" name="Arr4"/>
          <p:cNvSpPr/>
          <p:nvPr/>
        </p:nvSpPr>
        <p:spPr>
          <a:xfrm>
            <a:off x="10214347" y="3542072"/>
            <a:ext cx="304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8E23"/>
                </a:solidFill>
                <a:latin typeface="DM Sans" pitchFamily="34" charset="0"/>
              </a:rPr>
              <a:t>▼</a:t>
            </a:r>
          </a:p>
        </p:txBody>
      </p:sp>
      <p:sp>
        <p:nvSpPr>
          <p:cNvPr id="13" name="NPServices"/>
          <p:cNvSpPr/>
          <p:nvPr/>
        </p:nvSpPr>
        <p:spPr>
          <a:xfrm>
            <a:off x="8291047" y="3923072"/>
            <a:ext cx="4114800" cy="457200"/>
          </a:xfrm>
          <a:prstGeom prst="roundRect">
            <a:avLst>
              <a:gd name="adj" fmla="val 5000"/>
            </a:avLst>
          </a:prstGeom>
          <a:solidFill>
            <a:srgbClr val="B88E23"/>
          </a:solidFill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</a:rPr>
              <a:t>Microservices  (user / product / order)</a:t>
            </a:r>
          </a:p>
        </p:txBody>
      </p:sp>
      <p:sp>
        <p:nvSpPr>
          <p:cNvPr id="55" name="Arr5"/>
          <p:cNvSpPr/>
          <p:nvPr/>
        </p:nvSpPr>
        <p:spPr>
          <a:xfrm>
            <a:off x="10214347" y="4455872"/>
            <a:ext cx="304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8E23"/>
                </a:solidFill>
                <a:latin typeface="DM Sans" pitchFamily="34" charset="0"/>
              </a:rPr>
              <a:t>▼</a:t>
            </a:r>
          </a:p>
        </p:txBody>
      </p:sp>
      <p:sp>
        <p:nvSpPr>
          <p:cNvPr id="14" name="NPDatabase"/>
          <p:cNvSpPr/>
          <p:nvPr/>
        </p:nvSpPr>
        <p:spPr>
          <a:xfrm>
            <a:off x="8291047" y="4836872"/>
            <a:ext cx="4114800" cy="457200"/>
          </a:xfrm>
          <a:prstGeom prst="roundRect">
            <a:avLst>
              <a:gd name="adj" fmla="val 5000"/>
            </a:avLst>
          </a:prstGeom>
          <a:solidFill>
            <a:srgbClr val="6B5D4E"/>
          </a:solidFill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</a:rPr>
              <a:t>PostgreSQL  (own DB only)</a:t>
            </a:r>
          </a:p>
        </p:txBody>
      </p:sp>
      <p:sp>
        <p:nvSpPr>
          <p:cNvPr id="15" name="NPRules"/>
          <p:cNvSpPr/>
          <p:nvPr/>
        </p:nvSpPr>
        <p:spPr>
          <a:xfrm>
            <a:off x="7833847" y="5522672"/>
            <a:ext cx="5067000" cy="1379574"/>
          </a:xfrm>
          <a:prstGeom prst="roundRect">
            <a:avLst>
              <a:gd name="adj" fmla="val 3000"/>
            </a:avLst>
          </a:prstGeom>
          <a:solidFill>
            <a:srgbClr val="FDFAF4"/>
          </a:solidFill>
          <a:ln w="9525">
            <a:solidFill>
              <a:srgbClr val="DDD3BA"/>
            </a:solidFill>
          </a:ln>
        </p:spPr>
        <p:txBody>
          <a:bodyPr wrap="square" lIns="171450" tIns="114300" rIns="171450" bIns="11430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B88E23"/>
                </a:solidFill>
                <a:latin typeface="DM Sans" pitchFamily="34" charset="0"/>
              </a:rPr>
              <a:t>Rules:  </a:t>
            </a:r>
            <a:r>
              <a:rPr lang="en-US" sz="1100" dirty="0">
                <a:solidFill>
                  <a:srgbClr val="454240"/>
                </a:solidFill>
                <a:latin typeface="DM Sans" pitchFamily="34" charset="0"/>
              </a:rPr>
              <a:t>gateway → services  allowed</a:t>
            </a:r>
          </a:p>
          <a:p>
            <a:pPr>
              <a:lnSpc>
                <a:spcPts val="1900"/>
              </a:lnSpc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</a:rPr>
              <a:t>             gateway → frontend</a:t>
            </a:r>
          </a:p>
          <a:p>
            <a:pPr>
              <a:lnSpc>
                <a:spcPts val="1900"/>
              </a:lnSpc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</a:rPr>
              <a:t>             service → service</a:t>
            </a:r>
          </a:p>
          <a:p>
            <a:pPr marL="0" indent="0" algn="l">
              <a:lnSpc>
                <a:spcPts val="19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</a:rPr>
              <a:t>             service → own DB only  (no cross-service DB access)</a:t>
            </a:r>
          </a:p>
          <a:p>
            <a:pPr marL="0" indent="0" algn="l">
              <a:lnSpc>
                <a:spcPts val="19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</a:rPr>
              <a:t>             5 policies per namespace  •  applied per env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32A0C02-B1FD-E715-6FD1-3A1E45C6E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700" y="7685906"/>
            <a:ext cx="1790700" cy="4286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19456"/>
            <a:ext cx="134599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8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— GitHub Actions</a:t>
            </a:r>
            <a:endParaRPr lang="en-US" sz="4480" dirty="0"/>
          </a:p>
        </p:txBody>
      </p:sp>
      <p:sp>
        <p:nvSpPr>
          <p:cNvPr id="3" name="Shape 1"/>
          <p:cNvSpPr/>
          <p:nvPr/>
        </p:nvSpPr>
        <p:spPr>
          <a:xfrm>
            <a:off x="585216" y="1053389"/>
            <a:ext cx="13459968" cy="5852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585216" y="5705856"/>
            <a:ext cx="6583680" cy="2267712"/>
          </a:xfrm>
          <a:prstGeom prst="rect">
            <a:avLst/>
          </a:prstGeom>
          <a:solidFill>
            <a:srgbClr val="F7EDD4"/>
          </a:solidFill>
          <a:ln w="1905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04672" y="5969203"/>
            <a:ext cx="555955" cy="55595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92301" y="5925312"/>
            <a:ext cx="5413248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4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Shift-Left Security</a:t>
            </a:r>
            <a:endParaRPr lang="en-US" sz="224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804672" y="6554419"/>
            <a:ext cx="6144768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548640" indent="-548640">
              <a:buSzPct val="100000"/>
              <a:buChar char="•"/>
            </a:pPr>
            <a:r>
              <a:rPr lang="en-US" sz="1680" dirty="0">
                <a:solidFill>
                  <a:srgbClr val="4A3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(SAST)</a:t>
            </a:r>
            <a:endParaRPr lang="en-US" sz="1680" dirty="0"/>
          </a:p>
          <a:p>
            <a:pPr marL="548640" indent="-548640">
              <a:buSzPct val="100000"/>
              <a:buChar char="•"/>
            </a:pPr>
            <a:r>
              <a:rPr lang="en-US" sz="1680" dirty="0">
                <a:solidFill>
                  <a:srgbClr val="4A3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Snyk SCA — requirements.txt + package.json</a:t>
            </a:r>
            <a:endParaRPr lang="en-US" sz="1680" dirty="0"/>
          </a:p>
          <a:p>
            <a:pPr marL="548640" indent="-548640">
              <a:buSzPct val="100000"/>
              <a:buChar char="•"/>
            </a:pPr>
            <a:r>
              <a:rPr lang="en-US" sz="1680" dirty="0">
                <a:solidFill>
                  <a:srgbClr val="4A3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image scan — blocks on any critical CVE</a:t>
            </a:r>
            <a:endParaRPr lang="en-US" sz="1680" dirty="0"/>
          </a:p>
          <a:p>
            <a:pPr marL="548640" indent="-548640">
              <a:buSzPct val="100000"/>
              <a:buChar char="•"/>
            </a:pPr>
            <a:r>
              <a:rPr lang="en-US" sz="1680" dirty="0">
                <a:solidFill>
                  <a:srgbClr val="4A3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BLOCKED if any scan fails</a:t>
            </a:r>
            <a:endParaRPr lang="en-US" sz="1680" dirty="0"/>
          </a:p>
        </p:txBody>
      </p:sp>
      <p:sp>
        <p:nvSpPr>
          <p:cNvPr id="9" name="Shape 5"/>
          <p:cNvSpPr/>
          <p:nvPr/>
        </p:nvSpPr>
        <p:spPr>
          <a:xfrm>
            <a:off x="7461504" y="5705856"/>
            <a:ext cx="6583680" cy="2267712"/>
          </a:xfrm>
          <a:prstGeom prst="rect">
            <a:avLst/>
          </a:prstGeom>
          <a:solidFill>
            <a:srgbClr val="F7EDD4"/>
          </a:solidFill>
          <a:ln w="1905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680960" y="5969203"/>
            <a:ext cx="555955" cy="555955"/>
          </a:xfrm>
          <a:prstGeom prst="rect">
            <a:avLst/>
          </a:prstGeom>
          <a:noFill/>
        </p:spPr>
      </p:pic>
      <p:sp>
        <p:nvSpPr>
          <p:cNvPr id="11" name="Text 6"/>
          <p:cNvSpPr/>
          <p:nvPr/>
        </p:nvSpPr>
        <p:spPr>
          <a:xfrm>
            <a:off x="8368589" y="5925312"/>
            <a:ext cx="5413248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4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→ Environment</a:t>
            </a:r>
            <a:endParaRPr lang="en-US" sz="224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2" name="Text 7"/>
          <p:cNvSpPr/>
          <p:nvPr/>
        </p:nvSpPr>
        <p:spPr>
          <a:xfrm>
            <a:off x="7680960" y="6554419"/>
            <a:ext cx="6144768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548640" indent="-548640">
              <a:buSzPct val="100000"/>
              <a:buChar char="•"/>
            </a:pPr>
            <a:r>
              <a:rPr lang="en-US" sz="1680" dirty="0">
                <a:solidFill>
                  <a:srgbClr val="4A3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push  →  auto-deploy to sneakerhead-dev</a:t>
            </a:r>
            <a:endParaRPr lang="en-US" sz="1680" dirty="0"/>
          </a:p>
          <a:p>
            <a:pPr marL="548640" indent="-548640">
              <a:buSzPct val="100000"/>
              <a:buChar char="•"/>
            </a:pPr>
            <a:r>
              <a:rPr lang="en-US" sz="1680" dirty="0">
                <a:solidFill>
                  <a:srgbClr val="4A3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push  →  manual gate to sneakerhead-prod</a:t>
            </a:r>
            <a:endParaRPr lang="en-US" sz="1680" dirty="0"/>
          </a:p>
          <a:p>
            <a:pPr marL="548640" indent="-548640">
              <a:buSzPct val="100000"/>
              <a:buChar char="•"/>
            </a:pPr>
            <a:r>
              <a:rPr lang="en-US" sz="1680" dirty="0">
                <a:solidFill>
                  <a:srgbClr val="4A3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dev: autoSync=true  ·  selfHeal + prune enabled</a:t>
            </a:r>
            <a:endParaRPr lang="en-US" sz="1680" dirty="0"/>
          </a:p>
          <a:p>
            <a:pPr marL="548640" indent="-548640">
              <a:buSzPct val="100000"/>
              <a:buChar char="•"/>
            </a:pPr>
            <a:r>
              <a:rPr lang="en-US" sz="1680" dirty="0">
                <a:solidFill>
                  <a:srgbClr val="4A3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prod: autoSync=false  ·  safe manual promotion</a:t>
            </a:r>
            <a:endParaRPr lang="en-US" sz="168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1F6C3D4-D21F-13BB-19BC-CC6B1B3D4D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" y="1303046"/>
            <a:ext cx="13459968" cy="414994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92782A1-1A0F-68FA-0A97-33EA8ED08415}"/>
              </a:ext>
            </a:extLst>
          </p:cNvPr>
          <p:cNvSpPr/>
          <p:nvPr/>
        </p:nvSpPr>
        <p:spPr>
          <a:xfrm>
            <a:off x="12232570" y="4554406"/>
            <a:ext cx="1812614" cy="857839"/>
          </a:xfrm>
          <a:prstGeom prst="rect">
            <a:avLst/>
          </a:prstGeom>
          <a:solidFill>
            <a:srgbClr val="171717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7ED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73116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GitOps Continuous Deployment</a:t>
            </a:r>
            <a:endParaRPr lang="en-US" sz="4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488883"/>
            <a:ext cx="1134070" cy="16698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41074" y="2715697"/>
            <a:ext cx="30808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CI Updates Manifests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7641074" y="3206115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pipeline automatically commits updated Helm chart values to a dedicated Manifest Repository.</a:t>
            </a:r>
            <a:endParaRPr lang="en-US" sz="1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4158734"/>
            <a:ext cx="1134070" cy="166985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641074" y="4385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ArgoCD Reconciles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7641074" y="4875967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ArgoCD watches the Manifest Repo as the </a:t>
            </a: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single source of truth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pulling desired state continuously from GitHub.</a:t>
            </a:r>
            <a:endParaRPr lang="en-US" sz="17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90" y="5828586"/>
            <a:ext cx="1134070" cy="166985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641074" y="6055400"/>
            <a:ext cx="31431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Zero Manual Deploys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7641074" y="6545818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Server access is never required. Manual deployment scripts are completely eliminated from the workflow.</a:t>
            </a:r>
            <a:endParaRPr lang="en-US" sz="17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65A0F2-6EE8-24D7-2203-CFA31DB360D3}"/>
              </a:ext>
            </a:extLst>
          </p:cNvPr>
          <p:cNvSpPr/>
          <p:nvPr/>
        </p:nvSpPr>
        <p:spPr>
          <a:xfrm>
            <a:off x="12840929" y="7708490"/>
            <a:ext cx="1789471" cy="4227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46304"/>
            <a:ext cx="13752576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160" b="1" dirty="0">
                <a:solidFill>
                  <a:srgbClr val="7835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GitOps Delivery</a:t>
            </a:r>
            <a:endParaRPr lang="en-US" sz="4160" dirty="0"/>
          </a:p>
        </p:txBody>
      </p:sp>
      <p:sp>
        <p:nvSpPr>
          <p:cNvPr id="3" name="Text 1"/>
          <p:cNvSpPr/>
          <p:nvPr/>
        </p:nvSpPr>
        <p:spPr>
          <a:xfrm>
            <a:off x="438912" y="672998"/>
            <a:ext cx="1375257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4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App-of-Apps + ApplicationSet</a:t>
            </a:r>
            <a:endParaRPr lang="en-US" sz="1840" dirty="0"/>
          </a:p>
        </p:txBody>
      </p:sp>
      <p:sp>
        <p:nvSpPr>
          <p:cNvPr id="4" name="Shape 2"/>
          <p:cNvSpPr/>
          <p:nvPr/>
        </p:nvSpPr>
        <p:spPr>
          <a:xfrm>
            <a:off x="2253082" y="1199693"/>
            <a:ext cx="10241280" cy="1638605"/>
          </a:xfrm>
          <a:prstGeom prst="roundRect">
            <a:avLst>
              <a:gd name="adj" fmla="val 6250"/>
            </a:avLst>
          </a:prstGeom>
          <a:solidFill>
            <a:srgbClr val="E2D5A0"/>
          </a:solidFill>
          <a:ln w="12700">
            <a:solidFill>
              <a:srgbClr val="E2D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194560" y="1141171"/>
            <a:ext cx="10241280" cy="1638605"/>
          </a:xfrm>
          <a:prstGeom prst="roundRect">
            <a:avLst>
              <a:gd name="adj" fmla="val 6250"/>
            </a:avLst>
          </a:prstGeom>
          <a:solidFill>
            <a:srgbClr val="EFF6FF"/>
          </a:solidFill>
          <a:ln w="1778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194560" y="1141171"/>
            <a:ext cx="10241280" cy="321869"/>
          </a:xfrm>
          <a:prstGeom prst="roundRect">
            <a:avLst>
              <a:gd name="adj" fmla="val 31818"/>
            </a:avLst>
          </a:prstGeom>
          <a:solidFill>
            <a:srgbClr val="1C3D5A"/>
          </a:solidFill>
          <a:ln w="12700">
            <a:solidFill>
              <a:srgbClr val="1C3D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194560" y="1331366"/>
            <a:ext cx="10241280" cy="131674"/>
          </a:xfrm>
          <a:prstGeom prst="rect">
            <a:avLst/>
          </a:prstGeom>
          <a:solidFill>
            <a:srgbClr val="1C3D5A"/>
          </a:solidFill>
          <a:ln w="12700">
            <a:solidFill>
              <a:srgbClr val="1C3D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340864" y="1155802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sneakerhead-root  (root-app.yaml)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2457907" y="1550822"/>
            <a:ext cx="316992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4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Entry Point</a:t>
            </a:r>
            <a:endParaRPr lang="en-US" sz="1440" dirty="0"/>
          </a:p>
        </p:txBody>
      </p:sp>
      <p:sp>
        <p:nvSpPr>
          <p:cNvPr id="10" name="Text 8"/>
          <p:cNvSpPr/>
          <p:nvPr/>
        </p:nvSpPr>
        <p:spPr>
          <a:xfrm>
            <a:off x="2457907" y="1931213"/>
            <a:ext cx="3169920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path: argocd/</a:t>
            </a:r>
            <a:endParaRPr lang="en-US" sz="1280" dirty="0"/>
          </a:p>
          <a:p>
            <a:pPr algn="ctr"/>
            <a:r>
              <a:rPr lang="en-US" sz="12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5642458" y="1550823"/>
            <a:ext cx="0" cy="1111910"/>
          </a:xfrm>
          <a:prstGeom prst="line">
            <a:avLst/>
          </a:prstGeom>
          <a:noFill/>
          <a:ln w="762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730240" y="1550822"/>
            <a:ext cx="316992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4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Sync Flags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5730240" y="1931213"/>
            <a:ext cx="3169920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autoSync: true</a:t>
            </a:r>
            <a:endParaRPr lang="en-US" sz="1280" dirty="0"/>
          </a:p>
          <a:p>
            <a:pPr algn="ctr"/>
            <a:r>
              <a:rPr lang="en-US" sz="12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selfHeal: true  ·  prune: true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8914790" y="1550823"/>
            <a:ext cx="0" cy="1111910"/>
          </a:xfrm>
          <a:prstGeom prst="line">
            <a:avLst/>
          </a:prstGeom>
          <a:noFill/>
          <a:ln w="762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002573" y="1550822"/>
            <a:ext cx="316992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4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Repo</a:t>
            </a:r>
            <a:endParaRPr lang="en-US" sz="1440" dirty="0"/>
          </a:p>
        </p:txBody>
      </p:sp>
      <p:sp>
        <p:nvSpPr>
          <p:cNvPr id="16" name="Text 14"/>
          <p:cNvSpPr/>
          <p:nvPr/>
        </p:nvSpPr>
        <p:spPr>
          <a:xfrm>
            <a:off x="9002573" y="1931213"/>
            <a:ext cx="3169920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github.com/SneakerHead-org/</a:t>
            </a:r>
            <a:endParaRPr lang="en-US" sz="1280" dirty="0"/>
          </a:p>
          <a:p>
            <a:pPr algn="ctr"/>
            <a:r>
              <a:rPr lang="en-US" sz="12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SneakerHead-manifests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 flipH="1">
            <a:off x="2560320" y="2823667"/>
            <a:ext cx="4754880" cy="263347"/>
          </a:xfrm>
          <a:prstGeom prst="line">
            <a:avLst/>
          </a:prstGeom>
          <a:noFill/>
          <a:ln w="22860">
            <a:solidFill>
              <a:srgbClr val="D9770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315200" y="2823667"/>
            <a:ext cx="14630" cy="263347"/>
          </a:xfrm>
          <a:prstGeom prst="line">
            <a:avLst/>
          </a:prstGeom>
          <a:noFill/>
          <a:ln w="22860">
            <a:solidFill>
              <a:srgbClr val="D9770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315200" y="2823667"/>
            <a:ext cx="4754880" cy="263347"/>
          </a:xfrm>
          <a:prstGeom prst="line">
            <a:avLst/>
          </a:prstGeom>
          <a:noFill/>
          <a:ln w="22860">
            <a:solidFill>
              <a:srgbClr val="D9770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97434" y="3189427"/>
            <a:ext cx="4242816" cy="1492301"/>
          </a:xfrm>
          <a:prstGeom prst="roundRect">
            <a:avLst>
              <a:gd name="adj" fmla="val 6863"/>
            </a:avLst>
          </a:prstGeom>
          <a:solidFill>
            <a:srgbClr val="E2D5A0"/>
          </a:solidFill>
          <a:ln w="12700">
            <a:solidFill>
              <a:srgbClr val="E2D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38912" y="3130906"/>
            <a:ext cx="4242816" cy="1492301"/>
          </a:xfrm>
          <a:prstGeom prst="roundRect">
            <a:avLst>
              <a:gd name="adj" fmla="val 6863"/>
            </a:avLst>
          </a:prstGeom>
          <a:solidFill>
            <a:srgbClr val="F0FDF4"/>
          </a:solidFill>
          <a:ln w="1778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38912" y="3130906"/>
            <a:ext cx="4242816" cy="321869"/>
          </a:xfrm>
          <a:prstGeom prst="roundRect">
            <a:avLst>
              <a:gd name="adj" fmla="val 31818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38912" y="3321101"/>
            <a:ext cx="4242816" cy="131674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55955" y="3145536"/>
            <a:ext cx="40087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sneakerhead-infra</a:t>
            </a:r>
            <a:endParaRPr lang="en-US" sz="1360" dirty="0"/>
          </a:p>
        </p:txBody>
      </p:sp>
      <p:sp>
        <p:nvSpPr>
          <p:cNvPr id="25" name="Shape 23"/>
          <p:cNvSpPr/>
          <p:nvPr/>
        </p:nvSpPr>
        <p:spPr>
          <a:xfrm>
            <a:off x="1887322" y="3511296"/>
            <a:ext cx="1345997" cy="351130"/>
          </a:xfrm>
          <a:prstGeom prst="roundRect">
            <a:avLst>
              <a:gd name="adj" fmla="val 16667"/>
            </a:avLst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887322" y="3511296"/>
            <a:ext cx="1345997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6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0</a:t>
            </a:r>
            <a:endParaRPr lang="en-US" sz="1360" dirty="0"/>
          </a:p>
        </p:txBody>
      </p:sp>
      <p:sp>
        <p:nvSpPr>
          <p:cNvPr id="27" name="Text 25"/>
          <p:cNvSpPr/>
          <p:nvPr/>
        </p:nvSpPr>
        <p:spPr>
          <a:xfrm>
            <a:off x="585216" y="3950208"/>
            <a:ext cx="3950208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4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Network Policies</a:t>
            </a:r>
            <a:endParaRPr lang="en-US" sz="1440" dirty="0"/>
          </a:p>
        </p:txBody>
      </p:sp>
      <p:sp>
        <p:nvSpPr>
          <p:cNvPr id="28" name="Text 26"/>
          <p:cNvSpPr/>
          <p:nvPr/>
        </p:nvSpPr>
        <p:spPr>
          <a:xfrm>
            <a:off x="3657600" y="3160167"/>
            <a:ext cx="877824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40" i="1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AppProject</a:t>
            </a:r>
            <a:endParaRPr lang="en-US" sz="1040" dirty="0"/>
          </a:p>
        </p:txBody>
      </p:sp>
      <p:sp>
        <p:nvSpPr>
          <p:cNvPr id="29" name="Shape 27"/>
          <p:cNvSpPr/>
          <p:nvPr/>
        </p:nvSpPr>
        <p:spPr>
          <a:xfrm>
            <a:off x="5252314" y="3189427"/>
            <a:ext cx="4242816" cy="1492301"/>
          </a:xfrm>
          <a:prstGeom prst="roundRect">
            <a:avLst>
              <a:gd name="adj" fmla="val 6863"/>
            </a:avLst>
          </a:prstGeom>
          <a:solidFill>
            <a:srgbClr val="E2D5A0"/>
          </a:solidFill>
          <a:ln w="12700">
            <a:solidFill>
              <a:srgbClr val="E2D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5193792" y="3130906"/>
            <a:ext cx="4242816" cy="1492301"/>
          </a:xfrm>
          <a:prstGeom prst="roundRect">
            <a:avLst>
              <a:gd name="adj" fmla="val 6863"/>
            </a:avLst>
          </a:prstGeom>
          <a:solidFill>
            <a:srgbClr val="F0FDF4"/>
          </a:solidFill>
          <a:ln w="1778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5193792" y="3130906"/>
            <a:ext cx="4242816" cy="321869"/>
          </a:xfrm>
          <a:prstGeom prst="roundRect">
            <a:avLst>
              <a:gd name="adj" fmla="val 31818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193792" y="3321101"/>
            <a:ext cx="4242816" cy="131674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310835" y="3145536"/>
            <a:ext cx="40087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sneakerhead-data</a:t>
            </a:r>
            <a:endParaRPr lang="en-US" sz="1360" dirty="0"/>
          </a:p>
        </p:txBody>
      </p:sp>
      <p:sp>
        <p:nvSpPr>
          <p:cNvPr id="34" name="Shape 32"/>
          <p:cNvSpPr/>
          <p:nvPr/>
        </p:nvSpPr>
        <p:spPr>
          <a:xfrm>
            <a:off x="6642202" y="3511296"/>
            <a:ext cx="1345997" cy="351130"/>
          </a:xfrm>
          <a:prstGeom prst="roundRect">
            <a:avLst>
              <a:gd name="adj" fmla="val 16667"/>
            </a:avLst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642202" y="3511296"/>
            <a:ext cx="1345997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6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</a:t>
            </a:r>
            <a:endParaRPr lang="en-US" sz="1360" dirty="0"/>
          </a:p>
        </p:txBody>
      </p:sp>
      <p:sp>
        <p:nvSpPr>
          <p:cNvPr id="36" name="Text 34"/>
          <p:cNvSpPr/>
          <p:nvPr/>
        </p:nvSpPr>
        <p:spPr>
          <a:xfrm>
            <a:off x="5340096" y="3950208"/>
            <a:ext cx="3950208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4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Databases</a:t>
            </a:r>
            <a:endParaRPr lang="en-US" sz="1440" dirty="0"/>
          </a:p>
        </p:txBody>
      </p:sp>
      <p:sp>
        <p:nvSpPr>
          <p:cNvPr id="37" name="Text 35"/>
          <p:cNvSpPr/>
          <p:nvPr/>
        </p:nvSpPr>
        <p:spPr>
          <a:xfrm>
            <a:off x="8412480" y="3160167"/>
            <a:ext cx="877824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40" i="1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AppProject</a:t>
            </a:r>
            <a:endParaRPr lang="en-US" sz="1040" dirty="0"/>
          </a:p>
        </p:txBody>
      </p:sp>
      <p:sp>
        <p:nvSpPr>
          <p:cNvPr id="38" name="Shape 36"/>
          <p:cNvSpPr/>
          <p:nvPr/>
        </p:nvSpPr>
        <p:spPr>
          <a:xfrm>
            <a:off x="10007194" y="3189427"/>
            <a:ext cx="4242816" cy="1492301"/>
          </a:xfrm>
          <a:prstGeom prst="roundRect">
            <a:avLst>
              <a:gd name="adj" fmla="val 6863"/>
            </a:avLst>
          </a:prstGeom>
          <a:solidFill>
            <a:srgbClr val="E2D5A0"/>
          </a:solidFill>
          <a:ln w="12700">
            <a:solidFill>
              <a:srgbClr val="E2D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9948672" y="3130906"/>
            <a:ext cx="4242816" cy="1492301"/>
          </a:xfrm>
          <a:prstGeom prst="roundRect">
            <a:avLst>
              <a:gd name="adj" fmla="val 6863"/>
            </a:avLst>
          </a:prstGeom>
          <a:solidFill>
            <a:srgbClr val="F0FDF4"/>
          </a:solidFill>
          <a:ln w="1778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9948672" y="3130906"/>
            <a:ext cx="4242816" cy="321869"/>
          </a:xfrm>
          <a:prstGeom prst="roundRect">
            <a:avLst>
              <a:gd name="adj" fmla="val 31818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9948672" y="3321101"/>
            <a:ext cx="4242816" cy="131674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10065715" y="3145536"/>
            <a:ext cx="40087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sneakerhead-apps</a:t>
            </a:r>
            <a:endParaRPr lang="en-US" sz="1360" dirty="0"/>
          </a:p>
        </p:txBody>
      </p:sp>
      <p:sp>
        <p:nvSpPr>
          <p:cNvPr id="43" name="Shape 41"/>
          <p:cNvSpPr/>
          <p:nvPr/>
        </p:nvSpPr>
        <p:spPr>
          <a:xfrm>
            <a:off x="11397082" y="3511296"/>
            <a:ext cx="1345997" cy="351130"/>
          </a:xfrm>
          <a:prstGeom prst="roundRect">
            <a:avLst>
              <a:gd name="adj" fmla="val 16667"/>
            </a:avLst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11397082" y="3511296"/>
            <a:ext cx="1345997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6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</a:t>
            </a:r>
            <a:endParaRPr lang="en-US" sz="1360" dirty="0"/>
          </a:p>
        </p:txBody>
      </p:sp>
      <p:sp>
        <p:nvSpPr>
          <p:cNvPr id="45" name="Text 43"/>
          <p:cNvSpPr/>
          <p:nvPr/>
        </p:nvSpPr>
        <p:spPr>
          <a:xfrm>
            <a:off x="10094976" y="3950208"/>
            <a:ext cx="3950208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4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Microservices</a:t>
            </a:r>
            <a:endParaRPr lang="en-US" sz="1440" dirty="0"/>
          </a:p>
        </p:txBody>
      </p:sp>
      <p:sp>
        <p:nvSpPr>
          <p:cNvPr id="46" name="Text 44"/>
          <p:cNvSpPr/>
          <p:nvPr/>
        </p:nvSpPr>
        <p:spPr>
          <a:xfrm>
            <a:off x="13167360" y="3160167"/>
            <a:ext cx="877824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40" i="1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AppProject</a:t>
            </a:r>
            <a:endParaRPr lang="en-US" sz="1040" dirty="0"/>
          </a:p>
        </p:txBody>
      </p:sp>
      <p:sp>
        <p:nvSpPr>
          <p:cNvPr id="47" name="Shape 45"/>
          <p:cNvSpPr/>
          <p:nvPr/>
        </p:nvSpPr>
        <p:spPr>
          <a:xfrm>
            <a:off x="12070080" y="4667098"/>
            <a:ext cx="14630" cy="292608"/>
          </a:xfrm>
          <a:prstGeom prst="line">
            <a:avLst/>
          </a:prstGeom>
          <a:noFill/>
          <a:ln w="22860">
            <a:solidFill>
              <a:srgbClr val="D9770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97434" y="5062118"/>
            <a:ext cx="13752576" cy="2399386"/>
          </a:xfrm>
          <a:prstGeom prst="roundRect">
            <a:avLst>
              <a:gd name="adj" fmla="val 4268"/>
            </a:avLst>
          </a:prstGeom>
          <a:solidFill>
            <a:srgbClr val="E2D5A0"/>
          </a:solidFill>
          <a:ln w="12700">
            <a:solidFill>
              <a:srgbClr val="E2D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438912" y="5003597"/>
            <a:ext cx="13752576" cy="2399386"/>
          </a:xfrm>
          <a:prstGeom prst="roundRect">
            <a:avLst>
              <a:gd name="adj" fmla="val 4268"/>
            </a:avLst>
          </a:prstGeom>
          <a:solidFill>
            <a:srgbClr val="FAF5FF"/>
          </a:solidFill>
          <a:ln w="1778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38912" y="5003597"/>
            <a:ext cx="13752576" cy="321869"/>
          </a:xfrm>
          <a:prstGeom prst="roundRect">
            <a:avLst>
              <a:gd name="adj" fmla="val 31818"/>
            </a:avLst>
          </a:prstGeom>
          <a:solidFill>
            <a:srgbClr val="581C87"/>
          </a:solidFill>
          <a:ln w="12700">
            <a:solidFill>
              <a:srgbClr val="581C8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438912" y="5193792"/>
            <a:ext cx="13752576" cy="131674"/>
          </a:xfrm>
          <a:prstGeom prst="rect">
            <a:avLst/>
          </a:prstGeom>
          <a:solidFill>
            <a:srgbClr val="581C87"/>
          </a:solidFill>
          <a:ln w="12700">
            <a:solidFill>
              <a:srgbClr val="581C8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585216" y="5018227"/>
            <a:ext cx="1345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ApplicationSet  (microservices-appset.yaml)  —  List Generator</a:t>
            </a:r>
            <a:endParaRPr lang="en-US" sz="1440" dirty="0"/>
          </a:p>
        </p:txBody>
      </p:sp>
      <p:sp>
        <p:nvSpPr>
          <p:cNvPr id="53" name="Shape 51"/>
          <p:cNvSpPr/>
          <p:nvPr/>
        </p:nvSpPr>
        <p:spPr>
          <a:xfrm>
            <a:off x="702259" y="5413248"/>
            <a:ext cx="13225882" cy="409651"/>
          </a:xfrm>
          <a:prstGeom prst="roundRect">
            <a:avLst>
              <a:gd name="adj" fmla="val 17857"/>
            </a:avLst>
          </a:prstGeom>
          <a:solidFill>
            <a:srgbClr val="EDE9FE"/>
          </a:solidFill>
          <a:ln w="1016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702259" y="5413248"/>
            <a:ext cx="1322588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services  ×  2 environments  =  10 ArgoCD Applications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60781" y="5910681"/>
            <a:ext cx="2604211" cy="351130"/>
          </a:xfrm>
          <a:prstGeom prst="roundRect">
            <a:avLst>
              <a:gd name="adj" fmla="val 16667"/>
            </a:avLst>
          </a:prstGeom>
          <a:solidFill>
            <a:srgbClr val="581C87"/>
          </a:solidFill>
          <a:ln w="1016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760781" y="5910681"/>
            <a:ext cx="2604211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8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80" dirty="0"/>
          </a:p>
        </p:txBody>
      </p:sp>
      <p:sp>
        <p:nvSpPr>
          <p:cNvPr id="57" name="Shape 55"/>
          <p:cNvSpPr/>
          <p:nvPr/>
        </p:nvSpPr>
        <p:spPr>
          <a:xfrm>
            <a:off x="3394253" y="5910681"/>
            <a:ext cx="2604211" cy="351130"/>
          </a:xfrm>
          <a:prstGeom prst="roundRect">
            <a:avLst>
              <a:gd name="adj" fmla="val 16667"/>
            </a:avLst>
          </a:prstGeom>
          <a:solidFill>
            <a:srgbClr val="581C87"/>
          </a:solidFill>
          <a:ln w="1016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3394253" y="5910681"/>
            <a:ext cx="2604211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8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280" dirty="0"/>
          </a:p>
        </p:txBody>
      </p:sp>
      <p:sp>
        <p:nvSpPr>
          <p:cNvPr id="59" name="Shape 57"/>
          <p:cNvSpPr/>
          <p:nvPr/>
        </p:nvSpPr>
        <p:spPr>
          <a:xfrm>
            <a:off x="6027725" y="5910681"/>
            <a:ext cx="2604211" cy="351130"/>
          </a:xfrm>
          <a:prstGeom prst="roundRect">
            <a:avLst>
              <a:gd name="adj" fmla="val 16667"/>
            </a:avLst>
          </a:prstGeom>
          <a:solidFill>
            <a:srgbClr val="581C87"/>
          </a:solidFill>
          <a:ln w="1016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6027725" y="5910681"/>
            <a:ext cx="2604211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8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user-service</a:t>
            </a:r>
            <a:endParaRPr lang="en-US" sz="1280" dirty="0"/>
          </a:p>
        </p:txBody>
      </p:sp>
      <p:sp>
        <p:nvSpPr>
          <p:cNvPr id="61" name="Shape 59"/>
          <p:cNvSpPr/>
          <p:nvPr/>
        </p:nvSpPr>
        <p:spPr>
          <a:xfrm>
            <a:off x="8661197" y="5910681"/>
            <a:ext cx="2604211" cy="351130"/>
          </a:xfrm>
          <a:prstGeom prst="roundRect">
            <a:avLst>
              <a:gd name="adj" fmla="val 16667"/>
            </a:avLst>
          </a:prstGeom>
          <a:solidFill>
            <a:srgbClr val="581C87"/>
          </a:solidFill>
          <a:ln w="1016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8661197" y="5910681"/>
            <a:ext cx="2604211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8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product-service</a:t>
            </a:r>
            <a:endParaRPr lang="en-US" sz="1280" dirty="0"/>
          </a:p>
        </p:txBody>
      </p:sp>
      <p:sp>
        <p:nvSpPr>
          <p:cNvPr id="63" name="Shape 61"/>
          <p:cNvSpPr/>
          <p:nvPr/>
        </p:nvSpPr>
        <p:spPr>
          <a:xfrm>
            <a:off x="11294669" y="5910681"/>
            <a:ext cx="2604211" cy="351130"/>
          </a:xfrm>
          <a:prstGeom prst="roundRect">
            <a:avLst>
              <a:gd name="adj" fmla="val 16667"/>
            </a:avLst>
          </a:prstGeom>
          <a:solidFill>
            <a:srgbClr val="581C87"/>
          </a:solidFill>
          <a:ln w="1016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11294669" y="5910681"/>
            <a:ext cx="2604211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8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order-service</a:t>
            </a:r>
            <a:endParaRPr lang="en-US" sz="1280" dirty="0"/>
          </a:p>
        </p:txBody>
      </p:sp>
      <p:sp>
        <p:nvSpPr>
          <p:cNvPr id="65" name="Shape 63"/>
          <p:cNvSpPr/>
          <p:nvPr/>
        </p:nvSpPr>
        <p:spPr>
          <a:xfrm>
            <a:off x="760781" y="6349594"/>
            <a:ext cx="6510528" cy="848563"/>
          </a:xfrm>
          <a:prstGeom prst="roundRect">
            <a:avLst>
              <a:gd name="adj" fmla="val 8621"/>
            </a:avLst>
          </a:prstGeom>
          <a:solidFill>
            <a:srgbClr val="DCFCE7"/>
          </a:solidFill>
          <a:ln w="1524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760781" y="6349594"/>
            <a:ext cx="760781" cy="848563"/>
          </a:xfrm>
          <a:prstGeom prst="roundRect">
            <a:avLst>
              <a:gd name="adj" fmla="val 961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1404519" y="6349594"/>
            <a:ext cx="117043" cy="848563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760781" y="6349594"/>
            <a:ext cx="760781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2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</a:t>
            </a:r>
            <a:endParaRPr lang="en-US" sz="1920" dirty="0"/>
          </a:p>
        </p:txBody>
      </p:sp>
      <p:sp>
        <p:nvSpPr>
          <p:cNvPr id="69" name="Text 67"/>
          <p:cNvSpPr/>
          <p:nvPr/>
        </p:nvSpPr>
        <p:spPr>
          <a:xfrm>
            <a:off x="1609344" y="6408115"/>
            <a:ext cx="551566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4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autoSync = true</a:t>
            </a:r>
            <a:endParaRPr lang="en-US" sz="1440" dirty="0"/>
          </a:p>
          <a:p>
            <a:r>
              <a:rPr lang="en-US" sz="144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selfHeal + prune enabled</a:t>
            </a:r>
            <a:endParaRPr lang="en-US" sz="1440" dirty="0"/>
          </a:p>
        </p:txBody>
      </p:sp>
      <p:sp>
        <p:nvSpPr>
          <p:cNvPr id="70" name="Shape 68"/>
          <p:cNvSpPr/>
          <p:nvPr/>
        </p:nvSpPr>
        <p:spPr>
          <a:xfrm>
            <a:off x="7359091" y="6349594"/>
            <a:ext cx="6510528" cy="848563"/>
          </a:xfrm>
          <a:prstGeom prst="roundRect">
            <a:avLst>
              <a:gd name="adj" fmla="val 8621"/>
            </a:avLst>
          </a:prstGeom>
          <a:solidFill>
            <a:srgbClr val="FEF3C7"/>
          </a:solidFill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7359091" y="6349594"/>
            <a:ext cx="760781" cy="848563"/>
          </a:xfrm>
          <a:prstGeom prst="roundRect">
            <a:avLst>
              <a:gd name="adj" fmla="val 961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8002829" y="6349594"/>
            <a:ext cx="117043" cy="848563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7359091" y="6349594"/>
            <a:ext cx="760781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2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</a:t>
            </a:r>
            <a:endParaRPr lang="en-US" sz="1920" dirty="0"/>
          </a:p>
        </p:txBody>
      </p:sp>
      <p:sp>
        <p:nvSpPr>
          <p:cNvPr id="74" name="Text 72"/>
          <p:cNvSpPr/>
          <p:nvPr/>
        </p:nvSpPr>
        <p:spPr>
          <a:xfrm>
            <a:off x="8207654" y="6408115"/>
            <a:ext cx="551566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4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autoSync = false</a:t>
            </a:r>
            <a:endParaRPr lang="en-US" sz="1440" dirty="0"/>
          </a:p>
          <a:p>
            <a:r>
              <a:rPr lang="en-US" sz="144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promotion — safe production gate</a:t>
            </a:r>
            <a:endParaRPr lang="en-US" sz="1440" dirty="0"/>
          </a:p>
        </p:txBody>
      </p:sp>
      <p:sp>
        <p:nvSpPr>
          <p:cNvPr id="75" name="Shape 73"/>
          <p:cNvSpPr/>
          <p:nvPr/>
        </p:nvSpPr>
        <p:spPr>
          <a:xfrm>
            <a:off x="0" y="7841894"/>
            <a:ext cx="14630400" cy="387706"/>
          </a:xfrm>
          <a:prstGeom prst="rect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321869" y="7853598"/>
            <a:ext cx="1398666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20" i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"Git is the single source of truth — no kubectl apply manually"</a:t>
            </a:r>
            <a:endParaRPr lang="en-US" sz="15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175565"/>
            <a:ext cx="13459968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80" b="1" dirty="0">
                <a:solidFill>
                  <a:srgbClr val="7835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GitOps Lifecycle</a:t>
            </a:r>
            <a:endParaRPr lang="en-US" sz="4480" dirty="0"/>
          </a:p>
        </p:txBody>
      </p:sp>
      <p:sp>
        <p:nvSpPr>
          <p:cNvPr id="3" name="Text 1"/>
          <p:cNvSpPr/>
          <p:nvPr/>
        </p:nvSpPr>
        <p:spPr>
          <a:xfrm>
            <a:off x="585216" y="819302"/>
            <a:ext cx="13459968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2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Deployment Flow</a:t>
            </a:r>
            <a:endParaRPr lang="en-US" sz="1920" dirty="0"/>
          </a:p>
        </p:txBody>
      </p:sp>
      <p:sp>
        <p:nvSpPr>
          <p:cNvPr id="4" name="Shape 2"/>
          <p:cNvSpPr/>
          <p:nvPr/>
        </p:nvSpPr>
        <p:spPr>
          <a:xfrm flipH="1">
            <a:off x="7932146" y="2038122"/>
            <a:ext cx="545493" cy="289139"/>
          </a:xfrm>
          <a:prstGeom prst="line">
            <a:avLst/>
          </a:prstGeom>
          <a:noFill/>
          <a:ln w="20320">
            <a:solidFill>
              <a:srgbClr val="D9770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 flipH="1">
            <a:off x="9350132" y="3091884"/>
            <a:ext cx="225950" cy="698046"/>
          </a:xfrm>
          <a:prstGeom prst="line">
            <a:avLst/>
          </a:prstGeom>
          <a:noFill/>
          <a:ln w="20320">
            <a:solidFill>
              <a:srgbClr val="D9770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350132" y="4871268"/>
            <a:ext cx="225950" cy="698046"/>
          </a:xfrm>
          <a:prstGeom prst="line">
            <a:avLst/>
          </a:prstGeom>
          <a:noFill/>
          <a:ln w="20320">
            <a:solidFill>
              <a:srgbClr val="D9770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932146" y="6333935"/>
            <a:ext cx="545493" cy="289139"/>
          </a:xfrm>
          <a:prstGeom prst="line">
            <a:avLst/>
          </a:prstGeom>
          <a:noFill/>
          <a:ln w="20320">
            <a:solidFill>
              <a:srgbClr val="D9770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 flipV="1">
            <a:off x="6152762" y="6333935"/>
            <a:ext cx="545493" cy="289139"/>
          </a:xfrm>
          <a:prstGeom prst="line">
            <a:avLst/>
          </a:prstGeom>
          <a:noFill/>
          <a:ln w="20320">
            <a:solidFill>
              <a:srgbClr val="D9770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 flipV="1">
            <a:off x="5054319" y="4871268"/>
            <a:ext cx="225950" cy="698046"/>
          </a:xfrm>
          <a:prstGeom prst="line">
            <a:avLst/>
          </a:prstGeom>
          <a:noFill/>
          <a:ln w="20320">
            <a:solidFill>
              <a:srgbClr val="D9770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 flipH="1" flipV="1">
            <a:off x="5054319" y="3091884"/>
            <a:ext cx="225950" cy="698046"/>
          </a:xfrm>
          <a:prstGeom prst="line">
            <a:avLst/>
          </a:prstGeom>
          <a:noFill/>
          <a:ln w="20320">
            <a:solidFill>
              <a:srgbClr val="D9770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 flipH="1" flipV="1">
            <a:off x="6152762" y="2038122"/>
            <a:ext cx="545493" cy="289139"/>
          </a:xfrm>
          <a:prstGeom prst="line">
            <a:avLst/>
          </a:prstGeom>
          <a:noFill/>
          <a:ln w="20320">
            <a:solidFill>
              <a:srgbClr val="D9770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203290" y="1375258"/>
            <a:ext cx="2340864" cy="994867"/>
          </a:xfrm>
          <a:prstGeom prst="roundRect">
            <a:avLst>
              <a:gd name="adj" fmla="val 10294"/>
            </a:avLst>
          </a:prstGeom>
          <a:solidFill>
            <a:srgbClr val="E9D5A0"/>
          </a:solidFill>
          <a:ln w="12700">
            <a:solidFill>
              <a:srgbClr val="E9D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144768" y="1316736"/>
            <a:ext cx="2340864" cy="994867"/>
          </a:xfrm>
          <a:prstGeom prst="roundRect">
            <a:avLst>
              <a:gd name="adj" fmla="val 10294"/>
            </a:avLst>
          </a:prstGeom>
          <a:solidFill>
            <a:srgbClr val="EFF6FF"/>
          </a:solidFill>
          <a:ln w="1778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144768" y="1316736"/>
            <a:ext cx="2340864" cy="263347"/>
          </a:xfrm>
          <a:prstGeom prst="roundRect">
            <a:avLst>
              <a:gd name="adj" fmla="val 38889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144768" y="1463040"/>
            <a:ext cx="2340864" cy="117043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32551" y="1331367"/>
            <a:ext cx="526694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6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60" dirty="0"/>
          </a:p>
        </p:txBody>
      </p:sp>
      <p:sp>
        <p:nvSpPr>
          <p:cNvPr id="17" name="Text 15"/>
          <p:cNvSpPr/>
          <p:nvPr/>
        </p:nvSpPr>
        <p:spPr>
          <a:xfrm>
            <a:off x="6247181" y="1609344"/>
            <a:ext cx="2136038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4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Push</a:t>
            </a:r>
            <a:endParaRPr lang="en-US" sz="1440" dirty="0"/>
          </a:p>
        </p:txBody>
      </p:sp>
      <p:sp>
        <p:nvSpPr>
          <p:cNvPr id="18" name="Text 16"/>
          <p:cNvSpPr/>
          <p:nvPr/>
        </p:nvSpPr>
        <p:spPr>
          <a:xfrm>
            <a:off x="6247181" y="1931213"/>
            <a:ext cx="2136038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2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source repo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7982674" y="2112303"/>
            <a:ext cx="2340864" cy="994867"/>
          </a:xfrm>
          <a:prstGeom prst="roundRect">
            <a:avLst>
              <a:gd name="adj" fmla="val 10294"/>
            </a:avLst>
          </a:prstGeom>
          <a:solidFill>
            <a:srgbClr val="E9D5A0"/>
          </a:solidFill>
          <a:ln w="12700">
            <a:solidFill>
              <a:srgbClr val="E9D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924152" y="2053781"/>
            <a:ext cx="2340864" cy="994867"/>
          </a:xfrm>
          <a:prstGeom prst="roundRect">
            <a:avLst>
              <a:gd name="adj" fmla="val 10294"/>
            </a:avLst>
          </a:prstGeom>
          <a:solidFill>
            <a:srgbClr val="ECFDF5"/>
          </a:solidFill>
          <a:ln w="1778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924152" y="2053781"/>
            <a:ext cx="2340864" cy="263347"/>
          </a:xfrm>
          <a:prstGeom prst="roundRect">
            <a:avLst>
              <a:gd name="adj" fmla="val 38889"/>
            </a:avLst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924152" y="2200085"/>
            <a:ext cx="2340864" cy="117043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011935" y="2068411"/>
            <a:ext cx="526694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6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60" dirty="0"/>
          </a:p>
        </p:txBody>
      </p:sp>
      <p:sp>
        <p:nvSpPr>
          <p:cNvPr id="24" name="Text 22"/>
          <p:cNvSpPr/>
          <p:nvPr/>
        </p:nvSpPr>
        <p:spPr>
          <a:xfrm>
            <a:off x="8026565" y="2346389"/>
            <a:ext cx="2136038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4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</a:t>
            </a:r>
            <a:endParaRPr lang="en-US" sz="1440" dirty="0"/>
          </a:p>
        </p:txBody>
      </p:sp>
      <p:sp>
        <p:nvSpPr>
          <p:cNvPr id="25" name="Text 23"/>
          <p:cNvSpPr/>
          <p:nvPr/>
        </p:nvSpPr>
        <p:spPr>
          <a:xfrm>
            <a:off x="8026565" y="2668257"/>
            <a:ext cx="2136038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2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· Test · Push Docker image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8719718" y="3891687"/>
            <a:ext cx="2340864" cy="994867"/>
          </a:xfrm>
          <a:prstGeom prst="roundRect">
            <a:avLst>
              <a:gd name="adj" fmla="val 10294"/>
            </a:avLst>
          </a:prstGeom>
          <a:solidFill>
            <a:srgbClr val="E9D5A0"/>
          </a:solidFill>
          <a:ln w="12700">
            <a:solidFill>
              <a:srgbClr val="E9D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661197" y="3833165"/>
            <a:ext cx="2340864" cy="994867"/>
          </a:xfrm>
          <a:prstGeom prst="roundRect">
            <a:avLst>
              <a:gd name="adj" fmla="val 10294"/>
            </a:avLst>
          </a:prstGeom>
          <a:solidFill>
            <a:srgbClr val="F5F3FF"/>
          </a:solidFill>
          <a:ln w="1778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661197" y="3833165"/>
            <a:ext cx="2340864" cy="263347"/>
          </a:xfrm>
          <a:prstGeom prst="roundRect">
            <a:avLst>
              <a:gd name="adj" fmla="val 38889"/>
            </a:avLst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661197" y="3979469"/>
            <a:ext cx="2340864" cy="117043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748979" y="3847795"/>
            <a:ext cx="526694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6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60" dirty="0"/>
          </a:p>
        </p:txBody>
      </p:sp>
      <p:sp>
        <p:nvSpPr>
          <p:cNvPr id="31" name="Text 29"/>
          <p:cNvSpPr/>
          <p:nvPr/>
        </p:nvSpPr>
        <p:spPr>
          <a:xfrm>
            <a:off x="8763610" y="4125773"/>
            <a:ext cx="2136038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4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Image Tag</a:t>
            </a:r>
            <a:endParaRPr lang="en-US" sz="1440" dirty="0"/>
          </a:p>
        </p:txBody>
      </p:sp>
      <p:sp>
        <p:nvSpPr>
          <p:cNvPr id="32" name="Text 30"/>
          <p:cNvSpPr/>
          <p:nvPr/>
        </p:nvSpPr>
        <p:spPr>
          <a:xfrm>
            <a:off x="8763610" y="4447641"/>
            <a:ext cx="2136038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2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SneakerHead-manifests repo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7982674" y="5671071"/>
            <a:ext cx="2340864" cy="994867"/>
          </a:xfrm>
          <a:prstGeom prst="roundRect">
            <a:avLst>
              <a:gd name="adj" fmla="val 10294"/>
            </a:avLst>
          </a:prstGeom>
          <a:solidFill>
            <a:srgbClr val="E9D5A0"/>
          </a:solidFill>
          <a:ln w="12700">
            <a:solidFill>
              <a:srgbClr val="E9D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7924152" y="5612549"/>
            <a:ext cx="2340864" cy="994867"/>
          </a:xfrm>
          <a:prstGeom prst="roundRect">
            <a:avLst>
              <a:gd name="adj" fmla="val 10294"/>
            </a:avLst>
          </a:prstGeom>
          <a:solidFill>
            <a:srgbClr val="FFF1F2"/>
          </a:solidFill>
          <a:ln w="1778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7924152" y="5612549"/>
            <a:ext cx="2340864" cy="263347"/>
          </a:xfrm>
          <a:prstGeom prst="roundRect">
            <a:avLst>
              <a:gd name="adj" fmla="val 38889"/>
            </a:avLst>
          </a:prstGeom>
          <a:solidFill>
            <a:srgbClr val="881337"/>
          </a:solidFill>
          <a:ln w="12700">
            <a:solidFill>
              <a:srgbClr val="8813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7924152" y="5758853"/>
            <a:ext cx="2340864" cy="117043"/>
          </a:xfrm>
          <a:prstGeom prst="rect">
            <a:avLst/>
          </a:prstGeom>
          <a:solidFill>
            <a:srgbClr val="881337"/>
          </a:solidFill>
          <a:ln w="12700">
            <a:solidFill>
              <a:srgbClr val="8813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011935" y="5627179"/>
            <a:ext cx="526694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6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60" dirty="0"/>
          </a:p>
        </p:txBody>
      </p:sp>
      <p:sp>
        <p:nvSpPr>
          <p:cNvPr id="38" name="Text 36"/>
          <p:cNvSpPr/>
          <p:nvPr/>
        </p:nvSpPr>
        <p:spPr>
          <a:xfrm>
            <a:off x="8026565" y="5905157"/>
            <a:ext cx="2136038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40" b="1" dirty="0">
                <a:solidFill>
                  <a:srgbClr val="881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Detects</a:t>
            </a:r>
            <a:endParaRPr lang="en-US" sz="1440" dirty="0"/>
          </a:p>
        </p:txBody>
      </p:sp>
      <p:sp>
        <p:nvSpPr>
          <p:cNvPr id="39" name="Text 37"/>
          <p:cNvSpPr/>
          <p:nvPr/>
        </p:nvSpPr>
        <p:spPr>
          <a:xfrm>
            <a:off x="8026565" y="6227025"/>
            <a:ext cx="2136038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2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→ triggers sync</a:t>
            </a:r>
            <a:endParaRPr lang="en-US" sz="1120" dirty="0"/>
          </a:p>
        </p:txBody>
      </p:sp>
      <p:sp>
        <p:nvSpPr>
          <p:cNvPr id="40" name="Shape 38"/>
          <p:cNvSpPr/>
          <p:nvPr/>
        </p:nvSpPr>
        <p:spPr>
          <a:xfrm>
            <a:off x="6203290" y="6408115"/>
            <a:ext cx="2340864" cy="994867"/>
          </a:xfrm>
          <a:prstGeom prst="roundRect">
            <a:avLst>
              <a:gd name="adj" fmla="val 10294"/>
            </a:avLst>
          </a:prstGeom>
          <a:solidFill>
            <a:srgbClr val="E9D5A0"/>
          </a:solidFill>
          <a:ln w="12700">
            <a:solidFill>
              <a:srgbClr val="E9D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6144768" y="6349594"/>
            <a:ext cx="2340864" cy="994867"/>
          </a:xfrm>
          <a:prstGeom prst="roundRect">
            <a:avLst>
              <a:gd name="adj" fmla="val 10294"/>
            </a:avLst>
          </a:prstGeom>
          <a:solidFill>
            <a:srgbClr val="FFFBEB"/>
          </a:solidFill>
          <a:ln w="1778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6144768" y="6349594"/>
            <a:ext cx="2340864" cy="263347"/>
          </a:xfrm>
          <a:prstGeom prst="roundRect">
            <a:avLst>
              <a:gd name="adj" fmla="val 38889"/>
            </a:avLst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6144768" y="6495898"/>
            <a:ext cx="2340864" cy="117043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232551" y="6364224"/>
            <a:ext cx="526694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6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60" dirty="0"/>
          </a:p>
        </p:txBody>
      </p:sp>
      <p:sp>
        <p:nvSpPr>
          <p:cNvPr id="45" name="Text 43"/>
          <p:cNvSpPr/>
          <p:nvPr/>
        </p:nvSpPr>
        <p:spPr>
          <a:xfrm>
            <a:off x="6247181" y="6642201"/>
            <a:ext cx="2136038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4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Release Sync</a:t>
            </a:r>
            <a:endParaRPr lang="en-US" sz="1440" dirty="0"/>
          </a:p>
        </p:txBody>
      </p:sp>
      <p:sp>
        <p:nvSpPr>
          <p:cNvPr id="46" name="Text 44"/>
          <p:cNvSpPr/>
          <p:nvPr/>
        </p:nvSpPr>
        <p:spPr>
          <a:xfrm>
            <a:off x="6247181" y="6964070"/>
            <a:ext cx="2136038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2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cluster</a:t>
            </a:r>
            <a:endParaRPr lang="en-US" sz="1120" dirty="0"/>
          </a:p>
        </p:txBody>
      </p:sp>
      <p:sp>
        <p:nvSpPr>
          <p:cNvPr id="47" name="Shape 45"/>
          <p:cNvSpPr/>
          <p:nvPr/>
        </p:nvSpPr>
        <p:spPr>
          <a:xfrm>
            <a:off x="4423906" y="5671071"/>
            <a:ext cx="2340864" cy="994867"/>
          </a:xfrm>
          <a:prstGeom prst="roundRect">
            <a:avLst>
              <a:gd name="adj" fmla="val 10294"/>
            </a:avLst>
          </a:prstGeom>
          <a:solidFill>
            <a:srgbClr val="E9D5A0"/>
          </a:solidFill>
          <a:ln w="12700">
            <a:solidFill>
              <a:srgbClr val="E9D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365384" y="5612549"/>
            <a:ext cx="2340864" cy="994867"/>
          </a:xfrm>
          <a:prstGeom prst="roundRect">
            <a:avLst>
              <a:gd name="adj" fmla="val 10294"/>
            </a:avLst>
          </a:prstGeom>
          <a:solidFill>
            <a:srgbClr val="F0F9FF"/>
          </a:solidFill>
          <a:ln w="1778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4365384" y="5612549"/>
            <a:ext cx="2340864" cy="263347"/>
          </a:xfrm>
          <a:prstGeom prst="roundRect">
            <a:avLst>
              <a:gd name="adj" fmla="val 38889"/>
            </a:avLst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365384" y="5758853"/>
            <a:ext cx="2340864" cy="117043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453167" y="5627179"/>
            <a:ext cx="526694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6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60" dirty="0"/>
          </a:p>
        </p:txBody>
      </p:sp>
      <p:sp>
        <p:nvSpPr>
          <p:cNvPr id="52" name="Text 50"/>
          <p:cNvSpPr/>
          <p:nvPr/>
        </p:nvSpPr>
        <p:spPr>
          <a:xfrm>
            <a:off x="4467797" y="5905157"/>
            <a:ext cx="2136038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4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Decrypted</a:t>
            </a:r>
            <a:endParaRPr lang="en-US" sz="1440" dirty="0"/>
          </a:p>
        </p:txBody>
      </p:sp>
      <p:sp>
        <p:nvSpPr>
          <p:cNvPr id="53" name="Text 51"/>
          <p:cNvSpPr/>
          <p:nvPr/>
        </p:nvSpPr>
        <p:spPr>
          <a:xfrm>
            <a:off x="4467797" y="6227025"/>
            <a:ext cx="2136038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2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SealedSecret controller</a:t>
            </a:r>
            <a:endParaRPr lang="en-US" sz="1120" dirty="0"/>
          </a:p>
        </p:txBody>
      </p:sp>
      <p:sp>
        <p:nvSpPr>
          <p:cNvPr id="54" name="Shape 52"/>
          <p:cNvSpPr/>
          <p:nvPr/>
        </p:nvSpPr>
        <p:spPr>
          <a:xfrm>
            <a:off x="3686861" y="3891687"/>
            <a:ext cx="2340864" cy="994867"/>
          </a:xfrm>
          <a:prstGeom prst="roundRect">
            <a:avLst>
              <a:gd name="adj" fmla="val 10294"/>
            </a:avLst>
          </a:prstGeom>
          <a:solidFill>
            <a:srgbClr val="E9D5A0"/>
          </a:solidFill>
          <a:ln w="12700">
            <a:solidFill>
              <a:srgbClr val="E9D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3628339" y="3833165"/>
            <a:ext cx="2340864" cy="994867"/>
          </a:xfrm>
          <a:prstGeom prst="roundRect">
            <a:avLst>
              <a:gd name="adj" fmla="val 10294"/>
            </a:avLst>
          </a:prstGeom>
          <a:solidFill>
            <a:srgbClr val="F0FDF4"/>
          </a:solidFill>
          <a:ln w="1778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3628339" y="3833165"/>
            <a:ext cx="2340864" cy="263347"/>
          </a:xfrm>
          <a:prstGeom prst="roundRect">
            <a:avLst>
              <a:gd name="adj" fmla="val 38889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3628339" y="3979469"/>
            <a:ext cx="2340864" cy="117043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3716122" y="3847795"/>
            <a:ext cx="526694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6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360" dirty="0"/>
          </a:p>
        </p:txBody>
      </p:sp>
      <p:sp>
        <p:nvSpPr>
          <p:cNvPr id="59" name="Text 57"/>
          <p:cNvSpPr/>
          <p:nvPr/>
        </p:nvSpPr>
        <p:spPr>
          <a:xfrm>
            <a:off x="3730752" y="4125773"/>
            <a:ext cx="2136038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4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Scheduled</a:t>
            </a:r>
            <a:endParaRPr lang="en-US" sz="1440" dirty="0"/>
          </a:p>
        </p:txBody>
      </p:sp>
      <p:sp>
        <p:nvSpPr>
          <p:cNvPr id="60" name="Text 58"/>
          <p:cNvSpPr/>
          <p:nvPr/>
        </p:nvSpPr>
        <p:spPr>
          <a:xfrm>
            <a:off x="3730752" y="4447641"/>
            <a:ext cx="2136038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2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probes pass</a:t>
            </a:r>
            <a:endParaRPr lang="en-US" sz="1120" dirty="0"/>
          </a:p>
        </p:txBody>
      </p:sp>
      <p:sp>
        <p:nvSpPr>
          <p:cNvPr id="61" name="Shape 59"/>
          <p:cNvSpPr/>
          <p:nvPr/>
        </p:nvSpPr>
        <p:spPr>
          <a:xfrm>
            <a:off x="4423906" y="2112303"/>
            <a:ext cx="2340864" cy="994867"/>
          </a:xfrm>
          <a:prstGeom prst="roundRect">
            <a:avLst>
              <a:gd name="adj" fmla="val 10294"/>
            </a:avLst>
          </a:prstGeom>
          <a:solidFill>
            <a:srgbClr val="E9D5A0"/>
          </a:solidFill>
          <a:ln w="12700">
            <a:solidFill>
              <a:srgbClr val="E9D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4365384" y="2053781"/>
            <a:ext cx="2340864" cy="994867"/>
          </a:xfrm>
          <a:prstGeom prst="roundRect">
            <a:avLst>
              <a:gd name="adj" fmla="val 10294"/>
            </a:avLst>
          </a:prstGeom>
          <a:solidFill>
            <a:srgbClr val="FFF7ED"/>
          </a:solidFill>
          <a:ln w="1778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4365384" y="2053781"/>
            <a:ext cx="2340864" cy="263347"/>
          </a:xfrm>
          <a:prstGeom prst="roundRect">
            <a:avLst>
              <a:gd name="adj" fmla="val 38889"/>
            </a:avLst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4365384" y="2200085"/>
            <a:ext cx="2340864" cy="117043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4453167" y="2068411"/>
            <a:ext cx="526694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6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360" dirty="0"/>
          </a:p>
        </p:txBody>
      </p:sp>
      <p:sp>
        <p:nvSpPr>
          <p:cNvPr id="66" name="Text 64"/>
          <p:cNvSpPr/>
          <p:nvPr/>
        </p:nvSpPr>
        <p:spPr>
          <a:xfrm>
            <a:off x="4467797" y="2346389"/>
            <a:ext cx="2136038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4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Live</a:t>
            </a:r>
            <a:endParaRPr lang="en-US" sz="1440" dirty="0"/>
          </a:p>
        </p:txBody>
      </p:sp>
      <p:sp>
        <p:nvSpPr>
          <p:cNvPr id="67" name="Text 65"/>
          <p:cNvSpPr/>
          <p:nvPr/>
        </p:nvSpPr>
        <p:spPr>
          <a:xfrm>
            <a:off x="4467797" y="2668257"/>
            <a:ext cx="2136038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2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HAProxy → kgateway → services → DB</a:t>
            </a:r>
            <a:endParaRPr lang="en-US" sz="1120" dirty="0"/>
          </a:p>
        </p:txBody>
      </p:sp>
      <p:sp>
        <p:nvSpPr>
          <p:cNvPr id="68" name="Shape 66"/>
          <p:cNvSpPr/>
          <p:nvPr/>
        </p:nvSpPr>
        <p:spPr>
          <a:xfrm>
            <a:off x="6261811" y="3745382"/>
            <a:ext cx="2106778" cy="1170432"/>
          </a:xfrm>
          <a:prstGeom prst="ellipse">
            <a:avLst/>
          </a:prstGeom>
          <a:solidFill>
            <a:srgbClr val="78350F"/>
          </a:solidFill>
          <a:ln w="1905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6261811" y="3745382"/>
            <a:ext cx="210677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EFC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GitOps</a:t>
            </a:r>
            <a:endParaRPr lang="en-US" sz="1600" dirty="0"/>
          </a:p>
          <a:p>
            <a:pPr algn="ctr"/>
            <a:r>
              <a:rPr lang="en-US" sz="1600" b="1" dirty="0">
                <a:solidFill>
                  <a:srgbClr val="FEFC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Lifecycle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0" y="7841894"/>
            <a:ext cx="14630400" cy="387706"/>
          </a:xfrm>
          <a:prstGeom prst="rect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321869" y="7853598"/>
            <a:ext cx="1398666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40" i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commit is a deployment event — GitOps makes the cluster the source of truth"</a:t>
            </a:r>
            <a:endParaRPr lang="en-US" sz="14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BA2789-4E18-1B41-9780-746521621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946912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B50EF4C-BB81-5ACF-C504-5E2437F9F5A5}"/>
              </a:ext>
            </a:extLst>
          </p:cNvPr>
          <p:cNvSpPr/>
          <p:nvPr/>
        </p:nvSpPr>
        <p:spPr>
          <a:xfrm>
            <a:off x="12817786" y="8229600"/>
            <a:ext cx="1812614" cy="857839"/>
          </a:xfrm>
          <a:prstGeom prst="rect">
            <a:avLst/>
          </a:prstGeom>
          <a:solidFill>
            <a:srgbClr val="171717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EEB16D-738D-6C69-C00F-34F6FD774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52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413" cy="822960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1869" y="146304"/>
            <a:ext cx="5852160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160" b="1" dirty="0">
                <a:solidFill>
                  <a:srgbClr val="7835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SecOps</a:t>
            </a:r>
            <a:endParaRPr lang="en-US" sz="4160" dirty="0"/>
          </a:p>
        </p:txBody>
      </p:sp>
      <p:sp>
        <p:nvSpPr>
          <p:cNvPr id="4" name="Text 2"/>
          <p:cNvSpPr/>
          <p:nvPr/>
        </p:nvSpPr>
        <p:spPr>
          <a:xfrm>
            <a:off x="321869" y="614477"/>
            <a:ext cx="1024128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6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Layers Across the Stack</a:t>
            </a:r>
            <a:endParaRPr lang="en-US" sz="1760" dirty="0"/>
          </a:p>
        </p:txBody>
      </p:sp>
      <p:sp>
        <p:nvSpPr>
          <p:cNvPr id="5" name="Shape 3"/>
          <p:cNvSpPr/>
          <p:nvPr/>
        </p:nvSpPr>
        <p:spPr>
          <a:xfrm>
            <a:off x="321869" y="994868"/>
            <a:ext cx="13986662" cy="17557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80391" y="1123615"/>
            <a:ext cx="13986662" cy="1063142"/>
          </a:xfrm>
          <a:prstGeom prst="rect">
            <a:avLst/>
          </a:prstGeom>
          <a:solidFill>
            <a:srgbClr val="E9D5A0"/>
          </a:solidFill>
          <a:ln w="12700">
            <a:solidFill>
              <a:srgbClr val="E9D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1869" y="1082650"/>
            <a:ext cx="13986662" cy="1063142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Shape 6"/>
          <p:cNvSpPr/>
          <p:nvPr/>
        </p:nvSpPr>
        <p:spPr>
          <a:xfrm>
            <a:off x="321869" y="1082650"/>
            <a:ext cx="3013862" cy="106314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38912" y="1141171"/>
            <a:ext cx="614477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38912" y="1463040"/>
            <a:ext cx="2838298" cy="624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520" dirty="0"/>
          </a:p>
          <a:p>
            <a:r>
              <a:rPr lang="en-US" sz="1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520" dirty="0"/>
          </a:p>
        </p:txBody>
      </p:sp>
      <p:sp>
        <p:nvSpPr>
          <p:cNvPr id="11" name="Shape 9"/>
          <p:cNvSpPr/>
          <p:nvPr/>
        </p:nvSpPr>
        <p:spPr>
          <a:xfrm>
            <a:off x="3350362" y="1199693"/>
            <a:ext cx="10242" cy="8290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569818" y="1185062"/>
            <a:ext cx="10680192" cy="887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548640" indent="-548640">
              <a:spcAft>
                <a:spcPts val="640"/>
              </a:spcAft>
              <a:buSzPct val="100000"/>
              <a:buChar char="●"/>
            </a:pPr>
            <a:r>
              <a:rPr lang="en-US" sz="136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Bitnami Sealed Secrets — RSA-encrypted, safe to commit to Git · SealedSecret bound to exact name + namespace</a:t>
            </a:r>
            <a:endParaRPr lang="en-US" sz="1360" dirty="0"/>
          </a:p>
          <a:p>
            <a:pPr marL="548640" indent="-548640">
              <a:spcAft>
                <a:spcPts val="640"/>
              </a:spcAft>
              <a:buSzPct val="100000"/>
              <a:buChar char="●"/>
            </a:pPr>
            <a:r>
              <a:rPr lang="en-US" sz="136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JWT_SECRET, DATABASE_URL, POSTGRES credentials always sealed ·  dev + prod (12 objects)</a:t>
            </a:r>
            <a:endParaRPr lang="en-US" sz="1360" dirty="0"/>
          </a:p>
        </p:txBody>
      </p:sp>
      <p:sp>
        <p:nvSpPr>
          <p:cNvPr id="13" name="Shape 11"/>
          <p:cNvSpPr/>
          <p:nvPr/>
        </p:nvSpPr>
        <p:spPr>
          <a:xfrm>
            <a:off x="380391" y="2245279"/>
            <a:ext cx="13986662" cy="1063142"/>
          </a:xfrm>
          <a:prstGeom prst="rect">
            <a:avLst/>
          </a:prstGeom>
          <a:solidFill>
            <a:srgbClr val="E9D5A0"/>
          </a:solidFill>
          <a:ln w="12700">
            <a:solidFill>
              <a:srgbClr val="E9D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21869" y="2204314"/>
            <a:ext cx="13986662" cy="1063142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21869" y="2204314"/>
            <a:ext cx="3013862" cy="106314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38912" y="2262835"/>
            <a:ext cx="614477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38912" y="2584704"/>
            <a:ext cx="2838298" cy="624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</a:t>
            </a:r>
            <a:endParaRPr lang="en-US" sz="1520" dirty="0"/>
          </a:p>
          <a:p>
            <a:r>
              <a:rPr lang="en-US" sz="1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520" dirty="0"/>
          </a:p>
        </p:txBody>
      </p:sp>
      <p:sp>
        <p:nvSpPr>
          <p:cNvPr id="18" name="Shape 16"/>
          <p:cNvSpPr/>
          <p:nvPr/>
        </p:nvSpPr>
        <p:spPr>
          <a:xfrm>
            <a:off x="3350362" y="2321357"/>
            <a:ext cx="10242" cy="8290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569818" y="2306726"/>
            <a:ext cx="10680192" cy="887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548640" indent="-548640">
              <a:spcAft>
                <a:spcPts val="640"/>
              </a:spcAft>
              <a:buSzPct val="100000"/>
              <a:buChar char="●"/>
            </a:pPr>
            <a:r>
              <a:rPr lang="en-US" sz="136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(HS256) stateless auth — issued by user-service, verified by all services · bcrypt salted hashing via passlib</a:t>
            </a:r>
            <a:endParaRPr lang="en-US" sz="1360" dirty="0"/>
          </a:p>
          <a:p>
            <a:pPr marL="548640" indent="-548640">
              <a:spcAft>
                <a:spcPts val="640"/>
              </a:spcAft>
              <a:buSzPct val="100000"/>
              <a:buChar char="●"/>
            </a:pPr>
            <a:r>
              <a:rPr lang="en-US" sz="136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type guard: refresh ≠ access · Access: 30 min · Refresh: 7 days</a:t>
            </a:r>
            <a:endParaRPr lang="en-US" sz="1360" dirty="0"/>
          </a:p>
        </p:txBody>
      </p:sp>
      <p:sp>
        <p:nvSpPr>
          <p:cNvPr id="20" name="Shape 18"/>
          <p:cNvSpPr/>
          <p:nvPr/>
        </p:nvSpPr>
        <p:spPr>
          <a:xfrm>
            <a:off x="380391" y="3366943"/>
            <a:ext cx="13986662" cy="1063142"/>
          </a:xfrm>
          <a:prstGeom prst="rect">
            <a:avLst/>
          </a:prstGeom>
          <a:solidFill>
            <a:srgbClr val="E9D5A0"/>
          </a:solidFill>
          <a:ln w="12700">
            <a:solidFill>
              <a:srgbClr val="E9D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21869" y="3325978"/>
            <a:ext cx="13986662" cy="1063142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21869" y="3325978"/>
            <a:ext cx="3013862" cy="106314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38912" y="3384499"/>
            <a:ext cx="614477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38912" y="3706368"/>
            <a:ext cx="2838298" cy="624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520" dirty="0"/>
          </a:p>
          <a:p>
            <a:r>
              <a:rPr lang="en-US" sz="1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520" dirty="0"/>
          </a:p>
        </p:txBody>
      </p:sp>
      <p:sp>
        <p:nvSpPr>
          <p:cNvPr id="25" name="Shape 23"/>
          <p:cNvSpPr/>
          <p:nvPr/>
        </p:nvSpPr>
        <p:spPr>
          <a:xfrm>
            <a:off x="3350362" y="3443021"/>
            <a:ext cx="10242" cy="8290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569818" y="3428390"/>
            <a:ext cx="10680192" cy="887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548640" indent="-548640">
              <a:spcAft>
                <a:spcPts val="640"/>
              </a:spcAft>
              <a:buSzPct val="100000"/>
              <a:buChar char="●"/>
            </a:pPr>
            <a:r>
              <a:rPr lang="en-US" sz="136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Default-deny posture per namespace · Services accept traffic ONLY from kgateway — no direct pod-to-pod</a:t>
            </a:r>
            <a:endParaRPr lang="en-US" sz="1360" dirty="0"/>
          </a:p>
          <a:p>
            <a:pPr marL="548640" indent="-548640">
              <a:spcAft>
                <a:spcPts val="640"/>
              </a:spcAft>
              <a:buSzPct val="100000"/>
              <a:buChar char="●"/>
            </a:pPr>
            <a:r>
              <a:rPr lang="en-US" sz="136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accepts connections ONLY from paired service · Cross-namespace blocked · Egress restricted</a:t>
            </a:r>
            <a:endParaRPr lang="en-US" sz="1360" dirty="0"/>
          </a:p>
        </p:txBody>
      </p:sp>
      <p:sp>
        <p:nvSpPr>
          <p:cNvPr id="27" name="Shape 25"/>
          <p:cNvSpPr/>
          <p:nvPr/>
        </p:nvSpPr>
        <p:spPr>
          <a:xfrm>
            <a:off x="380391" y="4488607"/>
            <a:ext cx="13986662" cy="1063142"/>
          </a:xfrm>
          <a:prstGeom prst="rect">
            <a:avLst/>
          </a:prstGeom>
          <a:solidFill>
            <a:srgbClr val="E9D5A0"/>
          </a:solidFill>
          <a:ln w="12700">
            <a:solidFill>
              <a:srgbClr val="E9D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21869" y="4447642"/>
            <a:ext cx="13986662" cy="1063142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21869" y="4447642"/>
            <a:ext cx="3013862" cy="106314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38912" y="4506163"/>
            <a:ext cx="614477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38912" y="4828032"/>
            <a:ext cx="2838298" cy="624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520" dirty="0"/>
          </a:p>
        </p:txBody>
      </p:sp>
      <p:sp>
        <p:nvSpPr>
          <p:cNvPr id="32" name="Shape 30"/>
          <p:cNvSpPr/>
          <p:nvPr/>
        </p:nvSpPr>
        <p:spPr>
          <a:xfrm>
            <a:off x="3350362" y="4564685"/>
            <a:ext cx="10242" cy="8290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569818" y="4550054"/>
            <a:ext cx="10680192" cy="887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548640" indent="-548640">
              <a:spcAft>
                <a:spcPts val="640"/>
              </a:spcAft>
              <a:buSzPct val="100000"/>
              <a:buChar char="●"/>
            </a:pPr>
            <a:r>
              <a:rPr lang="en-US" sz="136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namespace: Full CRUD — pods, deployments, secrets, PVCs, HPAs, gateways</a:t>
            </a:r>
            <a:endParaRPr lang="en-US" sz="1360" dirty="0"/>
          </a:p>
          <a:p>
            <a:pPr marL="548640" indent="-548640">
              <a:spcAft>
                <a:spcPts val="640"/>
              </a:spcAft>
              <a:buSzPct val="100000"/>
              <a:buChar char="●"/>
            </a:pPr>
            <a:r>
              <a:rPr lang="en-US" sz="136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namespace: Read-only on all resources · update/patch on deployments + statefulsets only</a:t>
            </a:r>
            <a:endParaRPr lang="en-US" sz="1360" dirty="0"/>
          </a:p>
        </p:txBody>
      </p:sp>
      <p:sp>
        <p:nvSpPr>
          <p:cNvPr id="34" name="Shape 32"/>
          <p:cNvSpPr/>
          <p:nvPr/>
        </p:nvSpPr>
        <p:spPr>
          <a:xfrm>
            <a:off x="380391" y="5610271"/>
            <a:ext cx="13986662" cy="1063142"/>
          </a:xfrm>
          <a:prstGeom prst="rect">
            <a:avLst/>
          </a:prstGeom>
          <a:solidFill>
            <a:srgbClr val="E9D5A0"/>
          </a:solidFill>
          <a:ln w="12700">
            <a:solidFill>
              <a:srgbClr val="E9D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321869" y="5569306"/>
            <a:ext cx="13986662" cy="1063142"/>
          </a:xfrm>
          <a:prstGeom prst="rect">
            <a:avLst/>
          </a:prstGeom>
          <a:solidFill>
            <a:srgbClr val="FFF1F2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321869" y="5569306"/>
            <a:ext cx="3013862" cy="1063142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38912" y="5627827"/>
            <a:ext cx="614477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438912" y="5949696"/>
            <a:ext cx="2838298" cy="624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&amp;</a:t>
            </a:r>
            <a:endParaRPr lang="en-US" sz="1520" dirty="0"/>
          </a:p>
          <a:p>
            <a:r>
              <a:rPr lang="en-US" sz="1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Security</a:t>
            </a:r>
            <a:endParaRPr lang="en-US" sz="1520" dirty="0"/>
          </a:p>
        </p:txBody>
      </p:sp>
      <p:sp>
        <p:nvSpPr>
          <p:cNvPr id="39" name="Shape 37"/>
          <p:cNvSpPr/>
          <p:nvPr/>
        </p:nvSpPr>
        <p:spPr>
          <a:xfrm>
            <a:off x="3350362" y="5686349"/>
            <a:ext cx="10242" cy="82905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3569818" y="5671718"/>
            <a:ext cx="10680192" cy="887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548640" indent="-548640">
              <a:spcAft>
                <a:spcPts val="640"/>
              </a:spcAft>
              <a:buSzPct val="100000"/>
              <a:buChar char="●"/>
            </a:pPr>
            <a:r>
              <a:rPr lang="en-US" sz="136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users · No privilege escalation · Secrets injected as env vars — never baked into images</a:t>
            </a:r>
            <a:endParaRPr lang="en-US" sz="1360" dirty="0"/>
          </a:p>
          <a:p>
            <a:pPr marL="548640" indent="-548640">
              <a:spcAft>
                <a:spcPts val="640"/>
              </a:spcAft>
              <a:buSzPct val="100000"/>
              <a:buChar char="●"/>
            </a:pPr>
            <a:r>
              <a:rPr lang="en-US" sz="136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probes (liveness + readiness) — unhealthy pods never receive traffic · Resource limits on all containers</a:t>
            </a:r>
            <a:endParaRPr lang="en-US" sz="1360" dirty="0"/>
          </a:p>
        </p:txBody>
      </p:sp>
      <p:sp>
        <p:nvSpPr>
          <p:cNvPr id="41" name="Shape 39"/>
          <p:cNvSpPr/>
          <p:nvPr/>
        </p:nvSpPr>
        <p:spPr>
          <a:xfrm>
            <a:off x="380391" y="6731935"/>
            <a:ext cx="13986662" cy="1063142"/>
          </a:xfrm>
          <a:prstGeom prst="rect">
            <a:avLst/>
          </a:prstGeom>
          <a:solidFill>
            <a:srgbClr val="E9D5A0"/>
          </a:solidFill>
          <a:ln w="12700">
            <a:solidFill>
              <a:srgbClr val="E9D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321869" y="6690970"/>
            <a:ext cx="13986662" cy="106314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321869" y="6690970"/>
            <a:ext cx="3013862" cy="1063142"/>
          </a:xfrm>
          <a:prstGeom prst="rect">
            <a:avLst/>
          </a:prstGeom>
          <a:solidFill>
            <a:srgbClr val="065A5A"/>
          </a:solidFill>
          <a:ln w="12700">
            <a:solidFill>
              <a:srgbClr val="065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38912" y="6749491"/>
            <a:ext cx="614477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438912" y="7071360"/>
            <a:ext cx="2838298" cy="624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</a:t>
            </a:r>
            <a:endParaRPr lang="en-US" sz="1520" dirty="0"/>
          </a:p>
          <a:p>
            <a:r>
              <a:rPr lang="en-US" sz="1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Scanning</a:t>
            </a:r>
            <a:endParaRPr lang="en-US" sz="1520" dirty="0"/>
          </a:p>
        </p:txBody>
      </p:sp>
      <p:sp>
        <p:nvSpPr>
          <p:cNvPr id="46" name="Shape 44"/>
          <p:cNvSpPr/>
          <p:nvPr/>
        </p:nvSpPr>
        <p:spPr>
          <a:xfrm>
            <a:off x="3350362" y="6808013"/>
            <a:ext cx="10242" cy="8290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3569818" y="6793382"/>
            <a:ext cx="10680192" cy="887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548640" indent="-548640">
              <a:spcAft>
                <a:spcPts val="640"/>
              </a:spcAft>
              <a:buSzPct val="100000"/>
              <a:buChar char="●"/>
            </a:pPr>
            <a:r>
              <a:rPr lang="en-US" sz="136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(SAST) · Snyk (SCA: CVE scan on requirements.txt + package.json) · Trivy (container image scan)</a:t>
            </a:r>
            <a:endParaRPr lang="en-US" sz="1360" dirty="0"/>
          </a:p>
          <a:p>
            <a:pPr marL="548640" indent="-548640">
              <a:spcAft>
                <a:spcPts val="640"/>
              </a:spcAft>
              <a:buSzPct val="100000"/>
              <a:buChar char="●"/>
            </a:pPr>
            <a:r>
              <a:rPr lang="en-US" sz="136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run as GitHub Actions steps — image BLOCKED from pushing if any scan fails · Shift-left: caught at commit time</a:t>
            </a:r>
            <a:endParaRPr lang="en-US" sz="1360" dirty="0"/>
          </a:p>
        </p:txBody>
      </p:sp>
      <p:sp>
        <p:nvSpPr>
          <p:cNvPr id="48" name="Shape 46"/>
          <p:cNvSpPr/>
          <p:nvPr/>
        </p:nvSpPr>
        <p:spPr>
          <a:xfrm>
            <a:off x="0" y="7841894"/>
            <a:ext cx="14630400" cy="387706"/>
          </a:xfrm>
          <a:prstGeom prst="rect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321869" y="7853598"/>
            <a:ext cx="1398666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40" i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"Security is not an afterthought — it is built into every layer of the deployment"</a:t>
            </a:r>
            <a:endParaRPr lang="en-US" sz="14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White"/>
          <p:cNvSpPr/>
          <p:nvPr/>
        </p:nvSpPr>
        <p:spPr>
          <a:xfrm>
            <a:off x="0" y="-9832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" name="CreamPanel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7EDD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TagBg"/>
          <p:cNvSpPr/>
          <p:nvPr/>
        </p:nvSpPr>
        <p:spPr>
          <a:xfrm>
            <a:off x="793790" y="558800"/>
            <a:ext cx="2900000" cy="310000"/>
          </a:xfrm>
          <a:prstGeom prst="roundRect">
            <a:avLst>
              <a:gd name="adj" fmla="val 16667"/>
            </a:avLst>
          </a:prstGeom>
          <a:solidFill>
            <a:srgbClr val="5C4A1E"/>
          </a:solidFill>
          <a:ln>
            <a:noFill/>
          </a:ln>
        </p:spPr>
        <p:txBody>
          <a:bodyPr wrap="none" lIns="91440" tIns="45720" rIns="91440" bIns="45720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</a:rPr>
              <a:t>IDENTITY-DRIVEN ACCESS</a:t>
            </a:r>
          </a:p>
        </p:txBody>
      </p:sp>
      <p:sp>
        <p:nvSpPr>
          <p:cNvPr id="5" name="Title"/>
          <p:cNvSpPr/>
          <p:nvPr/>
        </p:nvSpPr>
        <p:spPr>
          <a:xfrm>
            <a:off x="793790" y="1005840"/>
            <a:ext cx="7900000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3000" b="0" dirty="0">
                <a:solidFill>
                  <a:srgbClr val="5C4E3D"/>
                </a:solidFill>
                <a:latin typeface="Libre Baskerville" pitchFamily="34" charset="0"/>
              </a:rPr>
              <a:t>Headlamp — Kubernetes Dashboard with OIDC</a:t>
            </a:r>
          </a:p>
        </p:txBody>
      </p:sp>
      <p:sp>
        <p:nvSpPr>
          <p:cNvPr id="6" name="Card1Bg"/>
          <p:cNvSpPr/>
          <p:nvPr/>
        </p:nvSpPr>
        <p:spPr>
          <a:xfrm>
            <a:off x="793790" y="2399999"/>
            <a:ext cx="7900000" cy="1582065"/>
          </a:xfrm>
          <a:prstGeom prst="roundRect">
            <a:avLst>
              <a:gd name="adj" fmla="val 3046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Card1Header"/>
          <p:cNvSpPr/>
          <p:nvPr/>
        </p:nvSpPr>
        <p:spPr>
          <a:xfrm>
            <a:off x="1028224" y="2490000"/>
            <a:ext cx="743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600" b="1" dirty="0">
                <a:solidFill>
                  <a:srgbClr val="5C4A1E"/>
                </a:solidFill>
                <a:latin typeface="Libre Baskerville" pitchFamily="34" charset="0"/>
              </a:rPr>
              <a:t>OIDC Login Flow</a:t>
            </a:r>
          </a:p>
        </p:txBody>
      </p:sp>
      <p:sp>
        <p:nvSpPr>
          <p:cNvPr id="8" name="Card1Body"/>
          <p:cNvSpPr/>
          <p:nvPr/>
        </p:nvSpPr>
        <p:spPr>
          <a:xfrm>
            <a:off x="1028224" y="2850000"/>
            <a:ext cx="743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DM Sans" pitchFamily="34" charset="0"/>
              </a:rPr>
              <a:t>User → headlamp.sneakerhead.rest → redirected to </a:t>
            </a:r>
            <a:r>
              <a:rPr lang="en-US" sz="1350" dirty="0" err="1">
                <a:solidFill>
                  <a:srgbClr val="454240"/>
                </a:solidFill>
                <a:latin typeface="DM Sans" pitchFamily="34" charset="0"/>
              </a:rPr>
              <a:t>Keycloak</a:t>
            </a:r>
            <a:r>
              <a:rPr lang="en-US" sz="1350" dirty="0">
                <a:solidFill>
                  <a:srgbClr val="454240"/>
                </a:solidFill>
                <a:latin typeface="DM Sans" pitchFamily="34" charset="0"/>
              </a:rPr>
              <a:t> (headlamp realm) → authenticates → ID token with group claims → Kubernetes RBAC enforced → user sees only permitted namespace</a:t>
            </a:r>
          </a:p>
        </p:txBody>
      </p:sp>
      <p:sp>
        <p:nvSpPr>
          <p:cNvPr id="9" name="Card2Bg"/>
          <p:cNvSpPr/>
          <p:nvPr/>
        </p:nvSpPr>
        <p:spPr>
          <a:xfrm>
            <a:off x="793790" y="4088489"/>
            <a:ext cx="3800000" cy="2941578"/>
          </a:xfrm>
          <a:prstGeom prst="roundRect">
            <a:avLst>
              <a:gd name="adj" fmla="val 3046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Card2Text"/>
          <p:cNvSpPr/>
          <p:nvPr/>
        </p:nvSpPr>
        <p:spPr>
          <a:xfrm>
            <a:off x="1028224" y="4178494"/>
            <a:ext cx="3330000" cy="27532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600" b="1" dirty="0">
                <a:solidFill>
                  <a:srgbClr val="5C4A1E"/>
                </a:solidFill>
                <a:latin typeface="Libre Baskerville" pitchFamily="34" charset="0"/>
              </a:rPr>
              <a:t>RBAC Mapping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en-US" sz="1250" b="1" dirty="0">
                <a:solidFill>
                  <a:srgbClr val="454240"/>
                </a:solidFill>
                <a:latin typeface="DM Sans" pitchFamily="34" charset="0"/>
              </a:rPr>
              <a:t>sneakerhead-dev-team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</a:rPr>
              <a:t>Full CRUD: pods, deployments, secrets, PVCs, HPAs, gateways (dev)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en-US" sz="1250" b="1" dirty="0">
                <a:solidFill>
                  <a:srgbClr val="454240"/>
                </a:solidFill>
                <a:latin typeface="DM Sans" pitchFamily="34" charset="0"/>
              </a:rPr>
              <a:t>sneakerhead-prod-team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</a:rPr>
              <a:t>Read-only + update/patch on deployments (prod)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en-US" sz="1150" dirty="0">
                <a:solidFill>
                  <a:srgbClr val="5C4A1E"/>
                </a:solidFill>
                <a:latin typeface="DM Sans" pitchFamily="34" charset="0"/>
              </a:rPr>
              <a:t>ClusterRole on both: list namespaces</a:t>
            </a:r>
          </a:p>
        </p:txBody>
      </p:sp>
      <p:sp>
        <p:nvSpPr>
          <p:cNvPr id="11" name="Card3Bg"/>
          <p:cNvSpPr/>
          <p:nvPr/>
        </p:nvSpPr>
        <p:spPr>
          <a:xfrm>
            <a:off x="4793790" y="4108152"/>
            <a:ext cx="3900000" cy="2646609"/>
          </a:xfrm>
          <a:prstGeom prst="roundRect">
            <a:avLst>
              <a:gd name="adj" fmla="val 3046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Card3Text"/>
          <p:cNvSpPr/>
          <p:nvPr/>
        </p:nvSpPr>
        <p:spPr>
          <a:xfrm>
            <a:off x="5028224" y="4178488"/>
            <a:ext cx="3430000" cy="24877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600" b="1" dirty="0">
                <a:solidFill>
                  <a:srgbClr val="5C4A1E"/>
                </a:solidFill>
                <a:latin typeface="Libre Baskerville" pitchFamily="34" charset="0"/>
              </a:rPr>
              <a:t>Keycloak Integration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en-US" sz="1250" b="1" dirty="0">
                <a:solidFill>
                  <a:srgbClr val="454240"/>
                </a:solidFill>
                <a:latin typeface="DM Sans" pitchFamily="34" charset="0"/>
              </a:rPr>
              <a:t>Realm:</a:t>
            </a:r>
            <a:r>
              <a:rPr lang="en-US" sz="1250" dirty="0">
                <a:solidFill>
                  <a:srgbClr val="454240"/>
                </a:solidFill>
                <a:latin typeface="DM Sans" pitchFamily="34" charset="0"/>
              </a:rPr>
              <a:t> headlamp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en-US" sz="1250" b="1" dirty="0">
                <a:solidFill>
                  <a:srgbClr val="454240"/>
                </a:solidFill>
                <a:latin typeface="DM Sans" pitchFamily="34" charset="0"/>
              </a:rPr>
              <a:t>Client:</a:t>
            </a:r>
            <a:r>
              <a:rPr lang="en-US" sz="1250" dirty="0">
                <a:solidFill>
                  <a:srgbClr val="454240"/>
                </a:solidFill>
                <a:latin typeface="DM Sans" pitchFamily="34" charset="0"/>
              </a:rPr>
              <a:t> headlamp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en-US" sz="1200" b="1" dirty="0">
                <a:solidFill>
                  <a:srgbClr val="454240"/>
                </a:solidFill>
                <a:latin typeface="DM Sans" pitchFamily="34" charset="0"/>
              </a:rPr>
              <a:t>Groups</a:t>
            </a:r>
            <a:r>
              <a:rPr lang="en-US" sz="1200" dirty="0">
                <a:solidFill>
                  <a:srgbClr val="454240"/>
                </a:solidFill>
                <a:latin typeface="DM Sans" pitchFamily="34" charset="0"/>
              </a:rPr>
              <a:t>: sneakerhead-dev-team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</a:rPr>
              <a:t>               sneakerhead-prod-team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en-US" sz="1200" b="1" dirty="0">
                <a:solidFill>
                  <a:srgbClr val="454240"/>
                </a:solidFill>
                <a:latin typeface="DM Sans" pitchFamily="34" charset="0"/>
              </a:rPr>
              <a:t>Users: </a:t>
            </a:r>
            <a:r>
              <a:rPr lang="en-US" sz="1200" dirty="0">
                <a:solidFill>
                  <a:srgbClr val="454240"/>
                </a:solidFill>
                <a:latin typeface="DM Sans" pitchFamily="34" charset="0"/>
              </a:rPr>
              <a:t>nandu (dev)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</a:rPr>
              <a:t>            </a:t>
            </a:r>
            <a:r>
              <a:rPr lang="en-US" sz="1200" dirty="0" err="1">
                <a:solidFill>
                  <a:srgbClr val="454240"/>
                </a:solidFill>
                <a:latin typeface="DM Sans" pitchFamily="34" charset="0"/>
              </a:rPr>
              <a:t>harsha</a:t>
            </a:r>
            <a:r>
              <a:rPr lang="en-US" sz="1200" dirty="0">
                <a:solidFill>
                  <a:srgbClr val="454240"/>
                </a:solidFill>
                <a:latin typeface="DM Sans" pitchFamily="34" charset="0"/>
              </a:rPr>
              <a:t> (prod)</a:t>
            </a:r>
          </a:p>
        </p:txBody>
      </p:sp>
      <p:sp>
        <p:nvSpPr>
          <p:cNvPr id="13" name="DiagramTitle"/>
          <p:cNvSpPr/>
          <p:nvPr/>
        </p:nvSpPr>
        <p:spPr>
          <a:xfrm>
            <a:off x="9372000" y="550000"/>
            <a:ext cx="490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600" b="1" dirty="0">
                <a:solidFill>
                  <a:srgbClr val="5C4A1E"/>
                </a:solidFill>
                <a:latin typeface="Libre Baskerville" pitchFamily="34" charset="0"/>
              </a:rPr>
              <a:t>OIDC Authentication Flow</a:t>
            </a:r>
          </a:p>
        </p:txBody>
      </p:sp>
      <p:sp>
        <p:nvSpPr>
          <p:cNvPr id="14" name="Step1"/>
          <p:cNvSpPr/>
          <p:nvPr/>
        </p:nvSpPr>
        <p:spPr>
          <a:xfrm>
            <a:off x="9600000" y="1100000"/>
            <a:ext cx="4400000" cy="430000"/>
          </a:xfrm>
          <a:prstGeom prst="roundRect">
            <a:avLst>
              <a:gd name="adj" fmla="val 10000"/>
            </a:avLst>
          </a:prstGeom>
          <a:solidFill>
            <a:srgbClr val="5C4A1E"/>
          </a:solidFill>
          <a:ln>
            <a:noFill/>
          </a:ln>
        </p:spPr>
        <p:txBody>
          <a:bodyPr wrap="none" lIns="91440" tIns="45720" rIns="91440" bIns="45720" rtlCol="0" anchor="ctr"/>
          <a:lstStyle/>
          <a:p>
            <a:pPr algn="ctr">
              <a:buNone/>
            </a:pPr>
            <a:r>
              <a:rPr lang="en-US" sz="1350" b="1" dirty="0">
                <a:solidFill>
                  <a:srgbClr val="FFFFFF"/>
                </a:solidFill>
                <a:latin typeface="DM Sans" pitchFamily="34" charset="0"/>
              </a:rPr>
              <a:t>Browser</a:t>
            </a:r>
          </a:p>
        </p:txBody>
      </p:sp>
      <p:sp>
        <p:nvSpPr>
          <p:cNvPr id="15" name="Arr1"/>
          <p:cNvSpPr/>
          <p:nvPr/>
        </p:nvSpPr>
        <p:spPr>
          <a:xfrm>
            <a:off x="11500000" y="1575000"/>
            <a:ext cx="6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buNone/>
            </a:pPr>
            <a:r>
              <a:rPr lang="en-US" sz="2000" dirty="0">
                <a:solidFill>
                  <a:srgbClr val="5C4A1E"/>
                </a:solidFill>
                <a:latin typeface="DM Sans" pitchFamily="34" charset="0"/>
              </a:rPr>
              <a:t>↓</a:t>
            </a:r>
          </a:p>
        </p:txBody>
      </p:sp>
      <p:sp>
        <p:nvSpPr>
          <p:cNvPr id="16" name="Step2"/>
          <p:cNvSpPr/>
          <p:nvPr/>
        </p:nvSpPr>
        <p:spPr>
          <a:xfrm>
            <a:off x="9600000" y="1970000"/>
            <a:ext cx="4400000" cy="430000"/>
          </a:xfrm>
          <a:prstGeom prst="roundRect">
            <a:avLst>
              <a:gd name="adj" fmla="val 10000"/>
            </a:avLst>
          </a:prstGeom>
          <a:solidFill>
            <a:srgbClr val="8B6914"/>
          </a:solidFill>
          <a:ln>
            <a:noFill/>
          </a:ln>
        </p:spPr>
        <p:txBody>
          <a:bodyPr wrap="none" lIns="91440" tIns="45720" rIns="91440" bIns="45720" rtlCol="0" anchor="ctr"/>
          <a:lstStyle/>
          <a:p>
            <a:pPr algn="ctr">
              <a:buNone/>
            </a:pPr>
            <a:r>
              <a:rPr lang="en-US" sz="1350" b="1" dirty="0">
                <a:solidFill>
                  <a:srgbClr val="FFFFFF"/>
                </a:solidFill>
                <a:latin typeface="DM Sans" pitchFamily="34" charset="0"/>
              </a:rPr>
              <a:t>HAProxy (TLS termination)</a:t>
            </a:r>
          </a:p>
        </p:txBody>
      </p:sp>
      <p:sp>
        <p:nvSpPr>
          <p:cNvPr id="17" name="Arr2"/>
          <p:cNvSpPr/>
          <p:nvPr/>
        </p:nvSpPr>
        <p:spPr>
          <a:xfrm>
            <a:off x="11500000" y="2445000"/>
            <a:ext cx="6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buNone/>
            </a:pPr>
            <a:r>
              <a:rPr lang="en-US" sz="2000" dirty="0">
                <a:solidFill>
                  <a:srgbClr val="5C4A1E"/>
                </a:solidFill>
                <a:latin typeface="DM Sans" pitchFamily="34" charset="0"/>
              </a:rPr>
              <a:t>↓</a:t>
            </a:r>
          </a:p>
        </p:txBody>
      </p:sp>
      <p:sp>
        <p:nvSpPr>
          <p:cNvPr id="18" name="Step3"/>
          <p:cNvSpPr/>
          <p:nvPr/>
        </p:nvSpPr>
        <p:spPr>
          <a:xfrm>
            <a:off x="9600000" y="2840000"/>
            <a:ext cx="4400000" cy="430000"/>
          </a:xfrm>
          <a:prstGeom prst="roundRect">
            <a:avLst>
              <a:gd name="adj" fmla="val 10000"/>
            </a:avLst>
          </a:prstGeom>
          <a:solidFill>
            <a:srgbClr val="2E6DA4"/>
          </a:solidFill>
          <a:ln>
            <a:noFill/>
          </a:ln>
        </p:spPr>
        <p:txBody>
          <a:bodyPr wrap="none" lIns="91440" tIns="45720" rIns="91440" bIns="45720" rtlCol="0" anchor="ctr"/>
          <a:lstStyle/>
          <a:p>
            <a:pPr algn="ctr">
              <a:buNone/>
            </a:pPr>
            <a:r>
              <a:rPr lang="en-US" sz="1350" b="1" dirty="0">
                <a:solidFill>
                  <a:srgbClr val="FFFFFF"/>
                </a:solidFill>
                <a:latin typeface="DM Sans" pitchFamily="34" charset="0"/>
              </a:rPr>
              <a:t>Headlamp Dashboard</a:t>
            </a:r>
          </a:p>
        </p:txBody>
      </p:sp>
      <p:sp>
        <p:nvSpPr>
          <p:cNvPr id="19" name="Arr3"/>
          <p:cNvSpPr/>
          <p:nvPr/>
        </p:nvSpPr>
        <p:spPr>
          <a:xfrm>
            <a:off x="11500000" y="3315000"/>
            <a:ext cx="6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buNone/>
            </a:pPr>
            <a:r>
              <a:rPr lang="en-US" sz="2000" dirty="0">
                <a:solidFill>
                  <a:srgbClr val="5C4A1E"/>
                </a:solidFill>
                <a:latin typeface="DM Sans" pitchFamily="34" charset="0"/>
              </a:rPr>
              <a:t>↓</a:t>
            </a:r>
          </a:p>
        </p:txBody>
      </p:sp>
      <p:sp>
        <p:nvSpPr>
          <p:cNvPr id="20" name="Step4"/>
          <p:cNvSpPr/>
          <p:nvPr/>
        </p:nvSpPr>
        <p:spPr>
          <a:xfrm>
            <a:off x="9600000" y="3710000"/>
            <a:ext cx="4400000" cy="430000"/>
          </a:xfrm>
          <a:prstGeom prst="roundRect">
            <a:avLst>
              <a:gd name="adj" fmla="val 10000"/>
            </a:avLst>
          </a:prstGeom>
          <a:solidFill>
            <a:srgbClr val="B5390D"/>
          </a:solidFill>
          <a:ln>
            <a:noFill/>
          </a:ln>
        </p:spPr>
        <p:txBody>
          <a:bodyPr wrap="none" lIns="91440" tIns="45720" rIns="91440" bIns="45720" rtlCol="0" anchor="ctr"/>
          <a:lstStyle/>
          <a:p>
            <a:pPr algn="ctr">
              <a:buNone/>
            </a:pPr>
            <a:r>
              <a:rPr lang="en-US" sz="1350" b="1" dirty="0">
                <a:solidFill>
                  <a:srgbClr val="FFFFFF"/>
                </a:solidFill>
                <a:latin typeface="DM Sans" pitchFamily="34" charset="0"/>
              </a:rPr>
              <a:t>Keycloak (OIDC Provider)</a:t>
            </a:r>
          </a:p>
        </p:txBody>
      </p:sp>
      <p:sp>
        <p:nvSpPr>
          <p:cNvPr id="21" name="Arr4"/>
          <p:cNvSpPr/>
          <p:nvPr/>
        </p:nvSpPr>
        <p:spPr>
          <a:xfrm>
            <a:off x="11500000" y="4185000"/>
            <a:ext cx="6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buNone/>
            </a:pPr>
            <a:r>
              <a:rPr lang="en-US" sz="2000" dirty="0">
                <a:solidFill>
                  <a:srgbClr val="5C4A1E"/>
                </a:solidFill>
                <a:latin typeface="DM Sans" pitchFamily="34" charset="0"/>
              </a:rPr>
              <a:t>↓</a:t>
            </a:r>
          </a:p>
        </p:txBody>
      </p:sp>
      <p:sp>
        <p:nvSpPr>
          <p:cNvPr id="22" name="Step5"/>
          <p:cNvSpPr/>
          <p:nvPr/>
        </p:nvSpPr>
        <p:spPr>
          <a:xfrm>
            <a:off x="9600000" y="4580000"/>
            <a:ext cx="4400000" cy="430000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>
            <a:noFill/>
          </a:ln>
        </p:spPr>
        <p:txBody>
          <a:bodyPr wrap="none" lIns="91440" tIns="45720" rIns="91440" bIns="45720" rtlCol="0" anchor="ctr"/>
          <a:lstStyle/>
          <a:p>
            <a:pPr algn="ctr">
              <a:buNone/>
            </a:pPr>
            <a:r>
              <a:rPr lang="en-US" sz="1350" b="1" dirty="0">
                <a:solidFill>
                  <a:srgbClr val="FFFFFF"/>
                </a:solidFill>
                <a:latin typeface="DM Sans" pitchFamily="34" charset="0"/>
              </a:rPr>
              <a:t>Kubernetes API (RBAC enforced)</a:t>
            </a:r>
          </a:p>
        </p:txBody>
      </p:sp>
      <p:sp>
        <p:nvSpPr>
          <p:cNvPr id="23" name="FooterBar"/>
          <p:cNvSpPr/>
          <p:nvPr/>
        </p:nvSpPr>
        <p:spPr>
          <a:xfrm>
            <a:off x="793790" y="7680000"/>
            <a:ext cx="7900000" cy="320000"/>
          </a:xfrm>
          <a:prstGeom prst="rect">
            <a:avLst/>
          </a:prstGeom>
          <a:solidFill>
            <a:srgbClr val="5C4A1E"/>
          </a:solidFill>
          <a:ln>
            <a:noFill/>
          </a:ln>
        </p:spPr>
        <p:txBody>
          <a:bodyPr wrap="none" lIns="91440" tIns="45720" rIns="91440" bIns="45720" rtlCol="0" anchor="ctr"/>
          <a:lstStyle/>
          <a:p>
            <a:pPr algn="l">
              <a:buNone/>
            </a:pPr>
            <a:r>
              <a:rPr lang="en-US" sz="1200" b="1" dirty="0">
                <a:solidFill>
                  <a:srgbClr val="F7EDD4"/>
                </a:solidFill>
                <a:latin typeface="DM Sans" pitchFamily="34" charset="0"/>
              </a:rPr>
              <a:t>SneakerHead  |  Headlamp + OIDC Access Control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6DA53-8998-3576-EDB1-5495FBE15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009AC0D-B310-C992-AF49-413135BB6AAB}"/>
              </a:ext>
            </a:extLst>
          </p:cNvPr>
          <p:cNvSpPr/>
          <p:nvPr/>
        </p:nvSpPr>
        <p:spPr>
          <a:xfrm>
            <a:off x="12840929" y="7783264"/>
            <a:ext cx="1789471" cy="4227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3DF752-1E1E-CE65-97C8-C5AA02F93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5746"/>
            <a:ext cx="14630400" cy="733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0395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60" y="594598"/>
            <a:ext cx="9704070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System Observability &amp; Monitoring</a:t>
            </a:r>
            <a:endParaRPr lang="en-US" sz="4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260" y="1782247"/>
            <a:ext cx="5628561" cy="5628561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260" y="1782247"/>
            <a:ext cx="5628561" cy="5628561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899077" y="2352437"/>
            <a:ext cx="3155037" cy="406241"/>
          </a:xfrm>
          <a:prstGeom prst="roundRect">
            <a:avLst>
              <a:gd name="adj" fmla="val 17588"/>
            </a:avLst>
          </a:prstGeom>
          <a:noFill/>
          <a:ln w="7620">
            <a:solidFill>
              <a:srgbClr val="B88E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34213" y="2470547"/>
            <a:ext cx="170021" cy="170021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289244" y="2423755"/>
            <a:ext cx="2629733" cy="263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PROACTIVE HEALTH MONITORING</a:t>
            </a:r>
            <a:endParaRPr lang="en-US" sz="1300" dirty="0"/>
          </a:p>
        </p:txBody>
      </p:sp>
      <p:sp>
        <p:nvSpPr>
          <p:cNvPr id="8" name="Text 3"/>
          <p:cNvSpPr/>
          <p:nvPr/>
        </p:nvSpPr>
        <p:spPr>
          <a:xfrm>
            <a:off x="6899077" y="2838331"/>
            <a:ext cx="4223028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Prometheus Metrics Collection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6899077" y="3369945"/>
            <a:ext cx="6994565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Continuously scrapes time-series metrics across every pod and node in the Kubernetes cluster — full-stack visibility with no blind spots.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6899077" y="4228386"/>
            <a:ext cx="2768322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Grafana Dashboards</a:t>
            </a:r>
            <a:endParaRPr lang="en-US" sz="2050" dirty="0"/>
          </a:p>
        </p:txBody>
      </p:sp>
      <p:sp>
        <p:nvSpPr>
          <p:cNvPr id="11" name="Text 6"/>
          <p:cNvSpPr/>
          <p:nvPr/>
        </p:nvSpPr>
        <p:spPr>
          <a:xfrm>
            <a:off x="6899077" y="4760000"/>
            <a:ext cx="6994565" cy="98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Real-time, customizable dashboards surface actionable insights for developers and operators, enabling rapid incident response and performance tuning.</a:t>
            </a:r>
            <a:endParaRPr lang="en-US" sz="1650" dirty="0"/>
          </a:p>
        </p:txBody>
      </p:sp>
      <p:sp>
        <p:nvSpPr>
          <p:cNvPr id="12" name="Shape 7"/>
          <p:cNvSpPr/>
          <p:nvPr/>
        </p:nvSpPr>
        <p:spPr>
          <a:xfrm>
            <a:off x="6899077" y="5972889"/>
            <a:ext cx="6994565" cy="867608"/>
          </a:xfrm>
          <a:prstGeom prst="roundRect">
            <a:avLst>
              <a:gd name="adj" fmla="val 10294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1722" y="6288762"/>
            <a:ext cx="265748" cy="21264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90115" y="6225302"/>
            <a:ext cx="6090880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Maximum uptime is a design goal, not an afterthought.</a:t>
            </a:r>
            <a:endParaRPr lang="en-US" sz="16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D098C3-3586-78EE-7DA1-2BD9C3931324}"/>
              </a:ext>
            </a:extLst>
          </p:cNvPr>
          <p:cNvSpPr/>
          <p:nvPr/>
        </p:nvSpPr>
        <p:spPr>
          <a:xfrm>
            <a:off x="12840929" y="7708490"/>
            <a:ext cx="1789471" cy="4227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F29B26-6BBB-0F42-E514-10014A6BE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1288"/>
            <a:ext cx="14630400" cy="740702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139F22C-1FA3-A5BA-51E1-A93CF923D32A}"/>
              </a:ext>
            </a:extLst>
          </p:cNvPr>
          <p:cNvSpPr/>
          <p:nvPr/>
        </p:nvSpPr>
        <p:spPr>
          <a:xfrm>
            <a:off x="12762271" y="7818311"/>
            <a:ext cx="1789471" cy="4112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09982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9B6DD0-9039-FCF7-B322-3B9843893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1482"/>
            <a:ext cx="14630400" cy="732663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63113D7-502A-14DE-5280-880F44B1BF3E}"/>
              </a:ext>
            </a:extLst>
          </p:cNvPr>
          <p:cNvSpPr/>
          <p:nvPr/>
        </p:nvSpPr>
        <p:spPr>
          <a:xfrm>
            <a:off x="12840929" y="7806813"/>
            <a:ext cx="1789471" cy="4227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8127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94AF2E-82A7-F90C-3A69-645E0C1B4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8855"/>
            <a:ext cx="14630400" cy="743524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F40F87B-A91B-517A-FEF7-E8EE46159EA9}"/>
              </a:ext>
            </a:extLst>
          </p:cNvPr>
          <p:cNvSpPr/>
          <p:nvPr/>
        </p:nvSpPr>
        <p:spPr>
          <a:xfrm>
            <a:off x="12840929" y="7783264"/>
            <a:ext cx="1789471" cy="4227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9728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BF770-DEE6-BE2B-CD71-2BD24881A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59972A-094E-4710-042C-BAE85FEE7DBC}"/>
              </a:ext>
            </a:extLst>
          </p:cNvPr>
          <p:cNvSpPr/>
          <p:nvPr/>
        </p:nvSpPr>
        <p:spPr>
          <a:xfrm>
            <a:off x="12840929" y="7783264"/>
            <a:ext cx="1789471" cy="4227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2FA3BB-AF45-937A-5AC7-53F56C679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1478"/>
            <a:ext cx="14630400" cy="7106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8894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DB820-9000-689B-9E0A-A9268C090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13456FA-B46E-39ED-F85D-07DB16FB8A74}"/>
              </a:ext>
            </a:extLst>
          </p:cNvPr>
          <p:cNvSpPr/>
          <p:nvPr/>
        </p:nvSpPr>
        <p:spPr>
          <a:xfrm>
            <a:off x="12840929" y="7783264"/>
            <a:ext cx="1789471" cy="4227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C591B2-7993-F140-04E5-4A5E41C77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5320"/>
            <a:ext cx="14630400" cy="749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453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4373</TotalTime>
  <Words>1206</Words>
  <Application>Microsoft Office PowerPoint</Application>
  <PresentationFormat>Custom</PresentationFormat>
  <Paragraphs>231</Paragraphs>
  <Slides>20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DM Sans</vt:lpstr>
      <vt:lpstr>Calibri</vt:lpstr>
      <vt:lpstr>Arial</vt:lpstr>
      <vt:lpstr>Libre Baskerville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Yaswanth Reddy Bobbiti(UST,IN)</cp:lastModifiedBy>
  <cp:revision>14</cp:revision>
  <dcterms:created xsi:type="dcterms:W3CDTF">2026-04-29T08:05:44Z</dcterms:created>
  <dcterms:modified xsi:type="dcterms:W3CDTF">2026-05-04T05:01:34Z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2026-05-04T05:01:34Z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fedd7380-5d9e-4e37-acc7-3a5ea802a5bb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